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73d81a07b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73d81a07b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 name="Google Shape;55;g3f73d81a07b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73d81a07b_2_4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f73d81a07b_2_4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0" name="Google Shape;100;g3f73d81a07b_2_4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73d81a07b_2_10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f73d81a07b_2_10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4" name="Google Shape;154;g3f73d81a07b_2_10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73d81a07b_2_14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f73d81a07b_2_14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3" name="Google Shape;203;g3f73d81a07b_2_14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73d81a07b_2_21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f73d81a07b_2_21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69" name="Google Shape;269;g3f73d81a07b_2_21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73d81a07b_2_27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f73d81a07b_2_27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3" name="Google Shape;333;g3f73d81a07b_2_27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73d81a07b_2_34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f73d81a07b_2_34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04" name="Google Shape;404;g3f73d81a07b_2_34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f73d81a07b_2_3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f73d81a07b_2_38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47" name="Google Shape;447;g3f73d81a07b_2_38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56" name="Shape 56"/>
        <p:cNvGrpSpPr/>
        <p:nvPr/>
      </p:nvGrpSpPr>
      <p:grpSpPr>
        <a:xfrm>
          <a:off x="0" y="0"/>
          <a:ext cx="0" cy="0"/>
          <a:chOff x="0" y="0"/>
          <a:chExt cx="0" cy="0"/>
        </a:xfrm>
      </p:grpSpPr>
      <p:sp>
        <p:nvSpPr>
          <p:cNvPr id="57" name="Google Shape;57;p15"/>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5"/>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5"/>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5"/>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5"/>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5"/>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5"/>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5"/>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5"/>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5"/>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5"/>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5"/>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5"/>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5"/>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5"/>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5"/>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5"/>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5"/>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5"/>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5"/>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5"/>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5"/>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5"/>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5"/>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5"/>
          <p:cNvSpPr/>
          <p:nvPr/>
        </p:nvSpPr>
        <p:spPr>
          <a:xfrm>
            <a:off x="6583680" y="-1097280"/>
            <a:ext cx="3771900" cy="3771900"/>
          </a:xfrm>
          <a:prstGeom prst="ellipse">
            <a:avLst/>
          </a:prstGeom>
          <a:solidFill>
            <a:srgbClr val="2FD9C4">
              <a:alpha val="7843"/>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5"/>
          <p:cNvSpPr/>
          <p:nvPr/>
        </p:nvSpPr>
        <p:spPr>
          <a:xfrm>
            <a:off x="-1234440" y="3154680"/>
            <a:ext cx="3566160" cy="3566160"/>
          </a:xfrm>
          <a:prstGeom prst="ellipse">
            <a:avLst/>
          </a:prstGeom>
          <a:solidFill>
            <a:srgbClr val="2FD9C4">
              <a:alpha val="588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5"/>
          <p:cNvSpPr/>
          <p:nvPr/>
        </p:nvSpPr>
        <p:spPr>
          <a:xfrm>
            <a:off x="617220" y="925830"/>
            <a:ext cx="493776" cy="493776"/>
          </a:xfrm>
          <a:prstGeom prst="ellipse">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5"/>
          <p:cNvSpPr/>
          <p:nvPr/>
        </p:nvSpPr>
        <p:spPr>
          <a:xfrm>
            <a:off x="617220" y="925830"/>
            <a:ext cx="493776" cy="49377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000"/>
              <a:buFont typeface="Calibri"/>
              <a:buNone/>
            </a:pPr>
            <a:r>
              <a:rPr b="0" i="0" lang="en"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85" name="Google Shape;85;p15"/>
          <p:cNvSpPr/>
          <p:nvPr/>
        </p:nvSpPr>
        <p:spPr>
          <a:xfrm>
            <a:off x="617220" y="1543050"/>
            <a:ext cx="54864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100"/>
              <a:buFont typeface="Calibri"/>
              <a:buNone/>
            </a:pPr>
            <a:r>
              <a:rPr b="1" i="0" lang="en" sz="1100" u="none" cap="none" strike="noStrike">
                <a:solidFill>
                  <a:srgbClr val="2FD9C4"/>
                </a:solidFill>
                <a:latin typeface="Calibri"/>
                <a:ea typeface="Calibri"/>
                <a:cs typeface="Calibri"/>
                <a:sym typeface="Calibri"/>
              </a:rPr>
              <a:t>AvengersS</a:t>
            </a:r>
            <a:r>
              <a:rPr b="1" lang="en" sz="1100">
                <a:solidFill>
                  <a:srgbClr val="2FD9C4"/>
                </a:solidFill>
                <a:latin typeface="Calibri"/>
                <a:ea typeface="Calibri"/>
                <a:cs typeface="Calibri"/>
                <a:sym typeface="Calibri"/>
              </a:rPr>
              <a:t>hop</a:t>
            </a:r>
            <a:r>
              <a:rPr b="1" i="0" lang="en" sz="1100" u="none" cap="none" strike="noStrike">
                <a:solidFill>
                  <a:srgbClr val="2FD9C4"/>
                </a:solidFill>
                <a:latin typeface="Calibri"/>
                <a:ea typeface="Calibri"/>
                <a:cs typeface="Calibri"/>
                <a:sym typeface="Calibri"/>
              </a:rPr>
              <a:t>  •  E-COMMERCE PLATFORM</a:t>
            </a:r>
            <a:endParaRPr b="0" i="0" sz="1100" u="none" cap="none" strike="noStrike">
              <a:solidFill>
                <a:schemeClr val="dk1"/>
              </a:solidFill>
              <a:latin typeface="Calibri"/>
              <a:ea typeface="Calibri"/>
              <a:cs typeface="Calibri"/>
              <a:sym typeface="Calibri"/>
            </a:endParaRPr>
          </a:p>
        </p:txBody>
      </p:sp>
      <p:sp>
        <p:nvSpPr>
          <p:cNvPr id="86" name="Google Shape;86;p15"/>
          <p:cNvSpPr/>
          <p:nvPr/>
        </p:nvSpPr>
        <p:spPr>
          <a:xfrm>
            <a:off x="582930" y="1851660"/>
            <a:ext cx="78867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DF3FF"/>
              </a:buClr>
              <a:buSzPts val="3500"/>
              <a:buFont typeface="Cambria"/>
              <a:buNone/>
            </a:pPr>
            <a:r>
              <a:rPr b="1" i="0" lang="en" sz="3500" u="none" cap="none" strike="noStrike">
                <a:solidFill>
                  <a:srgbClr val="EDF3FF"/>
                </a:solidFill>
                <a:latin typeface="Cambria"/>
                <a:ea typeface="Cambria"/>
                <a:cs typeface="Cambria"/>
                <a:sym typeface="Cambria"/>
              </a:rPr>
              <a:t>AI Shopping Assistant Chatbot</a:t>
            </a:r>
            <a:endParaRPr b="0" i="0" sz="3500" u="none" cap="none" strike="noStrike">
              <a:solidFill>
                <a:schemeClr val="dk1"/>
              </a:solidFill>
              <a:latin typeface="Calibri"/>
              <a:ea typeface="Calibri"/>
              <a:cs typeface="Calibri"/>
              <a:sym typeface="Calibri"/>
            </a:endParaRPr>
          </a:p>
        </p:txBody>
      </p:sp>
      <p:sp>
        <p:nvSpPr>
          <p:cNvPr id="87" name="Google Shape;87;p15"/>
          <p:cNvSpPr/>
          <p:nvPr/>
        </p:nvSpPr>
        <p:spPr>
          <a:xfrm>
            <a:off x="617220" y="2503170"/>
            <a:ext cx="68580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9C6E8"/>
              </a:buClr>
              <a:buSzPts val="1100"/>
              <a:buFont typeface="Calibri"/>
              <a:buNone/>
            </a:pPr>
            <a:r>
              <a:rPr b="0" i="1" lang="en" sz="1100" u="none" cap="none" strike="noStrike">
                <a:solidFill>
                  <a:srgbClr val="B9C6E8"/>
                </a:solidFill>
                <a:latin typeface="Calibri"/>
                <a:ea typeface="Calibri"/>
                <a:cs typeface="Calibri"/>
                <a:sym typeface="Calibri"/>
              </a:rPr>
              <a:t>Stack: Python (FastAPI + SQLAlchemy)  |  Focus: E-commerce AI</a:t>
            </a:r>
            <a:endParaRPr b="0" i="0" sz="1100" u="none" cap="none" strike="noStrike">
              <a:solidFill>
                <a:schemeClr val="dk1"/>
              </a:solidFill>
              <a:latin typeface="Calibri"/>
              <a:ea typeface="Calibri"/>
              <a:cs typeface="Calibri"/>
              <a:sym typeface="Calibri"/>
            </a:endParaRPr>
          </a:p>
        </p:txBody>
      </p:sp>
      <p:sp>
        <p:nvSpPr>
          <p:cNvPr id="88" name="Google Shape;88;p15"/>
          <p:cNvSpPr/>
          <p:nvPr/>
        </p:nvSpPr>
        <p:spPr>
          <a:xfrm>
            <a:off x="617220" y="2880360"/>
            <a:ext cx="6652260" cy="54864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B9C6E8"/>
              </a:buClr>
              <a:buSzPts val="1200"/>
              <a:buFont typeface="Calibri"/>
              <a:buNone/>
            </a:pPr>
            <a:r>
              <a:rPr b="0" i="0" lang="en" sz="1200" u="none" cap="none" strike="noStrike">
                <a:solidFill>
                  <a:srgbClr val="B9C6E8"/>
                </a:solidFill>
                <a:latin typeface="Calibri"/>
                <a:ea typeface="Calibri"/>
                <a:cs typeface="Calibri"/>
                <a:sym typeface="Calibri"/>
              </a:rPr>
              <a:t>A conversational, function-calling AI chatbot that turns a 250-product catalog into a grounded, personalized shopping experience.</a:t>
            </a:r>
            <a:endParaRPr b="0" i="0" sz="1200" u="none" cap="none" strike="noStrike">
              <a:solidFill>
                <a:schemeClr val="dk1"/>
              </a:solidFill>
              <a:latin typeface="Calibri"/>
              <a:ea typeface="Calibri"/>
              <a:cs typeface="Calibri"/>
              <a:sym typeface="Calibri"/>
            </a:endParaRPr>
          </a:p>
        </p:txBody>
      </p:sp>
      <p:sp>
        <p:nvSpPr>
          <p:cNvPr id="89" name="Google Shape;89;p15"/>
          <p:cNvSpPr/>
          <p:nvPr/>
        </p:nvSpPr>
        <p:spPr>
          <a:xfrm>
            <a:off x="617220" y="4354830"/>
            <a:ext cx="672084" cy="288036"/>
          </a:xfrm>
          <a:prstGeom prst="roundRect">
            <a:avLst>
              <a:gd fmla="val 5000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5"/>
          <p:cNvSpPr/>
          <p:nvPr/>
        </p:nvSpPr>
        <p:spPr>
          <a:xfrm>
            <a:off x="617220" y="4354830"/>
            <a:ext cx="672084"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EDF3FF"/>
              </a:buClr>
              <a:buSzPts val="900"/>
              <a:buFont typeface="Calibri"/>
              <a:buNone/>
            </a:pPr>
            <a:r>
              <a:rPr b="0" i="0" lang="en" sz="900" u="none" cap="none" strike="noStrike">
                <a:solidFill>
                  <a:srgbClr val="EDF3FF"/>
                </a:solidFill>
                <a:latin typeface="Calibri"/>
                <a:ea typeface="Calibri"/>
                <a:cs typeface="Calibri"/>
                <a:sym typeface="Calibri"/>
              </a:rPr>
              <a:t>FastAPI</a:t>
            </a:r>
            <a:endParaRPr b="0" i="0" sz="900" u="none" cap="none" strike="noStrike">
              <a:solidFill>
                <a:schemeClr val="dk1"/>
              </a:solidFill>
              <a:latin typeface="Calibri"/>
              <a:ea typeface="Calibri"/>
              <a:cs typeface="Calibri"/>
              <a:sym typeface="Calibri"/>
            </a:endParaRPr>
          </a:p>
        </p:txBody>
      </p:sp>
      <p:sp>
        <p:nvSpPr>
          <p:cNvPr id="91" name="Google Shape;91;p15"/>
          <p:cNvSpPr/>
          <p:nvPr/>
        </p:nvSpPr>
        <p:spPr>
          <a:xfrm>
            <a:off x="1426464" y="4354830"/>
            <a:ext cx="877824" cy="288036"/>
          </a:xfrm>
          <a:prstGeom prst="roundRect">
            <a:avLst>
              <a:gd fmla="val 5000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5"/>
          <p:cNvSpPr/>
          <p:nvPr/>
        </p:nvSpPr>
        <p:spPr>
          <a:xfrm>
            <a:off x="1426464" y="4354830"/>
            <a:ext cx="877824"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EDF3FF"/>
              </a:buClr>
              <a:buSzPts val="900"/>
              <a:buFont typeface="Calibri"/>
              <a:buNone/>
            </a:pPr>
            <a:r>
              <a:rPr b="0" i="0" lang="en" sz="900" u="none" cap="none" strike="noStrike">
                <a:solidFill>
                  <a:srgbClr val="EDF3FF"/>
                </a:solidFill>
                <a:latin typeface="Calibri"/>
                <a:ea typeface="Calibri"/>
                <a:cs typeface="Calibri"/>
                <a:sym typeface="Calibri"/>
              </a:rPr>
              <a:t>SQLAlchemy</a:t>
            </a:r>
            <a:endParaRPr b="0" i="0" sz="900" u="none" cap="none" strike="noStrike">
              <a:solidFill>
                <a:schemeClr val="dk1"/>
              </a:solidFill>
              <a:latin typeface="Calibri"/>
              <a:ea typeface="Calibri"/>
              <a:cs typeface="Calibri"/>
              <a:sym typeface="Calibri"/>
            </a:endParaRPr>
          </a:p>
        </p:txBody>
      </p:sp>
      <p:sp>
        <p:nvSpPr>
          <p:cNvPr id="93" name="Google Shape;93;p15"/>
          <p:cNvSpPr/>
          <p:nvPr/>
        </p:nvSpPr>
        <p:spPr>
          <a:xfrm>
            <a:off x="2441448" y="4354830"/>
            <a:ext cx="1769364" cy="288036"/>
          </a:xfrm>
          <a:prstGeom prst="roundRect">
            <a:avLst>
              <a:gd fmla="val 5000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5"/>
          <p:cNvSpPr/>
          <p:nvPr/>
        </p:nvSpPr>
        <p:spPr>
          <a:xfrm>
            <a:off x="2441448" y="4354830"/>
            <a:ext cx="1769364"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EDF3FF"/>
              </a:buClr>
              <a:buSzPts val="900"/>
              <a:buFont typeface="Calibri"/>
              <a:buNone/>
            </a:pPr>
            <a:r>
              <a:rPr b="0" i="0" lang="en" sz="900" u="none" cap="none" strike="noStrike">
                <a:solidFill>
                  <a:srgbClr val="EDF3FF"/>
                </a:solidFill>
                <a:latin typeface="Calibri"/>
                <a:ea typeface="Calibri"/>
                <a:cs typeface="Calibri"/>
                <a:sym typeface="Calibri"/>
              </a:rPr>
              <a:t>OpenAI Function Calling</a:t>
            </a:r>
            <a:endParaRPr b="0" i="0" sz="900" u="none" cap="none" strike="noStrike">
              <a:solidFill>
                <a:schemeClr val="dk1"/>
              </a:solidFill>
              <a:latin typeface="Calibri"/>
              <a:ea typeface="Calibri"/>
              <a:cs typeface="Calibri"/>
              <a:sym typeface="Calibri"/>
            </a:endParaRPr>
          </a:p>
        </p:txBody>
      </p:sp>
      <p:sp>
        <p:nvSpPr>
          <p:cNvPr id="95" name="Google Shape;95;p15"/>
          <p:cNvSpPr/>
          <p:nvPr/>
        </p:nvSpPr>
        <p:spPr>
          <a:xfrm>
            <a:off x="4347972" y="4354830"/>
            <a:ext cx="603504" cy="288036"/>
          </a:xfrm>
          <a:prstGeom prst="roundRect">
            <a:avLst>
              <a:gd fmla="val 5000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5"/>
          <p:cNvSpPr/>
          <p:nvPr/>
        </p:nvSpPr>
        <p:spPr>
          <a:xfrm>
            <a:off x="4347972" y="4354830"/>
            <a:ext cx="603504"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EDF3FF"/>
              </a:buClr>
              <a:buSzPts val="900"/>
              <a:buFont typeface="Calibri"/>
              <a:buNone/>
            </a:pPr>
            <a:r>
              <a:rPr b="0" i="0" lang="en" sz="900" u="none" cap="none" strike="noStrike">
                <a:solidFill>
                  <a:srgbClr val="EDF3FF"/>
                </a:solidFill>
                <a:latin typeface="Calibri"/>
                <a:ea typeface="Calibri"/>
                <a:cs typeface="Calibri"/>
                <a:sym typeface="Calibri"/>
              </a:rPr>
              <a:t>SQLite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101" name="Shape 101"/>
        <p:cNvGrpSpPr/>
        <p:nvPr/>
      </p:nvGrpSpPr>
      <p:grpSpPr>
        <a:xfrm>
          <a:off x="0" y="0"/>
          <a:ext cx="0" cy="0"/>
          <a:chOff x="0" y="0"/>
          <a:chExt cx="0" cy="0"/>
        </a:xfrm>
      </p:grpSpPr>
      <p:sp>
        <p:nvSpPr>
          <p:cNvPr id="102" name="Google Shape;102;p16"/>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6"/>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6"/>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6"/>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6"/>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6"/>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6"/>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6"/>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6"/>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6"/>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6"/>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6"/>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6"/>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6"/>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6"/>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6"/>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6"/>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6"/>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6"/>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6"/>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6"/>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6"/>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6"/>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6"/>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6"/>
          <p:cNvSpPr/>
          <p:nvPr/>
        </p:nvSpPr>
        <p:spPr>
          <a:xfrm>
            <a:off x="617220" y="342900"/>
            <a:ext cx="61722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000"/>
              <a:buFont typeface="Calibri"/>
              <a:buNone/>
            </a:pPr>
            <a:r>
              <a:rPr b="1" i="0" lang="en" sz="1000" u="none" cap="none" strike="noStrike">
                <a:solidFill>
                  <a:srgbClr val="2FD9C4"/>
                </a:solidFill>
                <a:latin typeface="Calibri"/>
                <a:ea typeface="Calibri"/>
                <a:cs typeface="Calibri"/>
                <a:sym typeface="Calibri"/>
              </a:rPr>
              <a:t>PROBLEM STATEMENT</a:t>
            </a:r>
            <a:endParaRPr b="0" i="0" sz="1000" u="none" cap="none" strike="noStrike">
              <a:solidFill>
                <a:schemeClr val="dk1"/>
              </a:solidFill>
              <a:latin typeface="Calibri"/>
              <a:ea typeface="Calibri"/>
              <a:cs typeface="Calibri"/>
              <a:sym typeface="Calibri"/>
            </a:endParaRPr>
          </a:p>
        </p:txBody>
      </p:sp>
      <p:sp>
        <p:nvSpPr>
          <p:cNvPr id="127" name="Google Shape;127;p16"/>
          <p:cNvSpPr/>
          <p:nvPr/>
        </p:nvSpPr>
        <p:spPr>
          <a:xfrm>
            <a:off x="617220" y="58293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2300"/>
              <a:buFont typeface="Cambria"/>
              <a:buNone/>
            </a:pPr>
            <a:r>
              <a:rPr b="1" i="0" lang="en" sz="2300" u="none" cap="none" strike="noStrike">
                <a:solidFill>
                  <a:srgbClr val="EDF3FF"/>
                </a:solidFill>
                <a:latin typeface="Cambria"/>
                <a:ea typeface="Cambria"/>
                <a:cs typeface="Cambria"/>
                <a:sym typeface="Cambria"/>
              </a:rPr>
              <a:t>Shoppers Need Guidance, Not Just Filters</a:t>
            </a:r>
            <a:endParaRPr b="0" i="0" sz="2300" u="none" cap="none" strike="noStrike">
              <a:solidFill>
                <a:schemeClr val="dk1"/>
              </a:solidFill>
              <a:latin typeface="Calibri"/>
              <a:ea typeface="Calibri"/>
              <a:cs typeface="Calibri"/>
              <a:sym typeface="Calibri"/>
            </a:endParaRPr>
          </a:p>
        </p:txBody>
      </p:sp>
      <p:sp>
        <p:nvSpPr>
          <p:cNvPr id="128" name="Google Shape;128;p16"/>
          <p:cNvSpPr/>
          <p:nvPr/>
        </p:nvSpPr>
        <p:spPr>
          <a:xfrm>
            <a:off x="617220" y="1165860"/>
            <a:ext cx="7886700" cy="72009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B9C6E8"/>
              </a:buClr>
              <a:buSzPts val="1000"/>
              <a:buFont typeface="Calibri"/>
              <a:buNone/>
            </a:pPr>
            <a:r>
              <a:rPr b="0" i="0" lang="en" sz="1000" u="none" cap="none" strike="noStrike">
                <a:solidFill>
                  <a:srgbClr val="B9C6E8"/>
                </a:solidFill>
                <a:latin typeface="Calibri"/>
                <a:ea typeface="Calibri"/>
                <a:cs typeface="Calibri"/>
                <a:sym typeface="Calibri"/>
              </a:rPr>
              <a:t>Shoppers on an e-commerce site often need guidance — comparing products, understanding specs, or getting recommendations — but static filters and search bars don't hold a conversation. This project builds a conversational shopping assistant that finds products, compares options, answers spec questions, and gives personalized suggestions, grounded strictly in real product data.</a:t>
            </a:r>
            <a:endParaRPr b="0" i="0" sz="1000" u="none" cap="none" strike="noStrike">
              <a:solidFill>
                <a:schemeClr val="dk1"/>
              </a:solidFill>
              <a:latin typeface="Calibri"/>
              <a:ea typeface="Calibri"/>
              <a:cs typeface="Calibri"/>
              <a:sym typeface="Calibri"/>
            </a:endParaRPr>
          </a:p>
        </p:txBody>
      </p:sp>
      <p:sp>
        <p:nvSpPr>
          <p:cNvPr id="129" name="Google Shape;129;p16"/>
          <p:cNvSpPr/>
          <p:nvPr/>
        </p:nvSpPr>
        <p:spPr>
          <a:xfrm>
            <a:off x="617220" y="2023110"/>
            <a:ext cx="3806190" cy="1268730"/>
          </a:xfrm>
          <a:prstGeom prst="roundRect">
            <a:avLst>
              <a:gd fmla="val 486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6"/>
          <p:cNvSpPr/>
          <p:nvPr/>
        </p:nvSpPr>
        <p:spPr>
          <a:xfrm>
            <a:off x="809244" y="221513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6"/>
          <p:cNvSpPr/>
          <p:nvPr/>
        </p:nvSpPr>
        <p:spPr>
          <a:xfrm>
            <a:off x="809244" y="221513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2" name="Google Shape;132;p16"/>
          <p:cNvSpPr/>
          <p:nvPr/>
        </p:nvSpPr>
        <p:spPr>
          <a:xfrm>
            <a:off x="1303020" y="2215134"/>
            <a:ext cx="2948940" cy="37719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Catalogs are too big to browse</a:t>
            </a:r>
            <a:endParaRPr b="0" i="0" sz="1100" u="none" cap="none" strike="noStrike">
              <a:solidFill>
                <a:schemeClr val="dk1"/>
              </a:solidFill>
              <a:latin typeface="Calibri"/>
              <a:ea typeface="Calibri"/>
              <a:cs typeface="Calibri"/>
              <a:sym typeface="Calibri"/>
            </a:endParaRPr>
          </a:p>
        </p:txBody>
      </p:sp>
      <p:sp>
        <p:nvSpPr>
          <p:cNvPr id="133" name="Google Shape;133;p16"/>
          <p:cNvSpPr/>
          <p:nvPr/>
        </p:nvSpPr>
        <p:spPr>
          <a:xfrm>
            <a:off x="809244" y="2674620"/>
            <a:ext cx="3422142" cy="5143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900"/>
              <a:buFont typeface="Calibri"/>
              <a:buNone/>
            </a:pPr>
            <a:r>
              <a:rPr b="0" i="0" lang="en" sz="900" u="none" cap="none" strike="noStrike">
                <a:solidFill>
                  <a:srgbClr val="B9C6E8"/>
                </a:solidFill>
                <a:latin typeface="Calibri"/>
                <a:ea typeface="Calibri"/>
                <a:cs typeface="Calibri"/>
                <a:sym typeface="Calibri"/>
              </a:rPr>
              <a:t>250 products across 12 categories — filters alone can't answer “which laptop is best for editing under $1200?”</a:t>
            </a:r>
            <a:endParaRPr b="0" i="0" sz="900" u="none" cap="none" strike="noStrike">
              <a:solidFill>
                <a:schemeClr val="dk1"/>
              </a:solidFill>
              <a:latin typeface="Calibri"/>
              <a:ea typeface="Calibri"/>
              <a:cs typeface="Calibri"/>
              <a:sym typeface="Calibri"/>
            </a:endParaRPr>
          </a:p>
        </p:txBody>
      </p:sp>
      <p:sp>
        <p:nvSpPr>
          <p:cNvPr id="134" name="Google Shape;134;p16"/>
          <p:cNvSpPr/>
          <p:nvPr/>
        </p:nvSpPr>
        <p:spPr>
          <a:xfrm>
            <a:off x="4629150" y="2023110"/>
            <a:ext cx="3806190" cy="1268730"/>
          </a:xfrm>
          <a:prstGeom prst="roundRect">
            <a:avLst>
              <a:gd fmla="val 486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6"/>
          <p:cNvSpPr/>
          <p:nvPr/>
        </p:nvSpPr>
        <p:spPr>
          <a:xfrm>
            <a:off x="4821174" y="221513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6"/>
          <p:cNvSpPr/>
          <p:nvPr/>
        </p:nvSpPr>
        <p:spPr>
          <a:xfrm>
            <a:off x="4821174" y="221513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7" name="Google Shape;137;p16"/>
          <p:cNvSpPr/>
          <p:nvPr/>
        </p:nvSpPr>
        <p:spPr>
          <a:xfrm>
            <a:off x="5314950" y="2215134"/>
            <a:ext cx="2948940" cy="37719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Search doesn't understand intent</a:t>
            </a:r>
            <a:endParaRPr b="0" i="0" sz="1100" u="none" cap="none" strike="noStrike">
              <a:solidFill>
                <a:schemeClr val="dk1"/>
              </a:solidFill>
              <a:latin typeface="Calibri"/>
              <a:ea typeface="Calibri"/>
              <a:cs typeface="Calibri"/>
              <a:sym typeface="Calibri"/>
            </a:endParaRPr>
          </a:p>
        </p:txBody>
      </p:sp>
      <p:sp>
        <p:nvSpPr>
          <p:cNvPr id="138" name="Google Shape;138;p16"/>
          <p:cNvSpPr/>
          <p:nvPr/>
        </p:nvSpPr>
        <p:spPr>
          <a:xfrm>
            <a:off x="4821174" y="2674620"/>
            <a:ext cx="3422142" cy="5143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900"/>
              <a:buFont typeface="Calibri"/>
              <a:buNone/>
            </a:pPr>
            <a:r>
              <a:rPr b="0" i="0" lang="en" sz="900" u="none" cap="none" strike="noStrike">
                <a:solidFill>
                  <a:srgbClr val="B9C6E8"/>
                </a:solidFill>
                <a:latin typeface="Calibri"/>
                <a:ea typeface="Calibri"/>
                <a:cs typeface="Calibri"/>
                <a:sym typeface="Calibri"/>
              </a:rPr>
              <a:t>Keyword search can't parse natural language, compare items, or answer spec-level questions.</a:t>
            </a:r>
            <a:endParaRPr b="0" i="0" sz="900" u="none" cap="none" strike="noStrike">
              <a:solidFill>
                <a:schemeClr val="dk1"/>
              </a:solidFill>
              <a:latin typeface="Calibri"/>
              <a:ea typeface="Calibri"/>
              <a:cs typeface="Calibri"/>
              <a:sym typeface="Calibri"/>
            </a:endParaRPr>
          </a:p>
        </p:txBody>
      </p:sp>
      <p:sp>
        <p:nvSpPr>
          <p:cNvPr id="139" name="Google Shape;139;p16"/>
          <p:cNvSpPr/>
          <p:nvPr/>
        </p:nvSpPr>
        <p:spPr>
          <a:xfrm>
            <a:off x="617220" y="3463290"/>
            <a:ext cx="3806190" cy="1268730"/>
          </a:xfrm>
          <a:prstGeom prst="roundRect">
            <a:avLst>
              <a:gd fmla="val 486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6"/>
          <p:cNvSpPr/>
          <p:nvPr/>
        </p:nvSpPr>
        <p:spPr>
          <a:xfrm>
            <a:off x="809244" y="365531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6"/>
          <p:cNvSpPr/>
          <p:nvPr/>
        </p:nvSpPr>
        <p:spPr>
          <a:xfrm>
            <a:off x="809244" y="365531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2" name="Google Shape;142;p16"/>
          <p:cNvSpPr/>
          <p:nvPr/>
        </p:nvSpPr>
        <p:spPr>
          <a:xfrm>
            <a:off x="1303020" y="3655314"/>
            <a:ext cx="2948940" cy="37719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No real personalization</a:t>
            </a:r>
            <a:endParaRPr b="0" i="0" sz="1100" u="none" cap="none" strike="noStrike">
              <a:solidFill>
                <a:schemeClr val="dk1"/>
              </a:solidFill>
              <a:latin typeface="Calibri"/>
              <a:ea typeface="Calibri"/>
              <a:cs typeface="Calibri"/>
              <a:sym typeface="Calibri"/>
            </a:endParaRPr>
          </a:p>
        </p:txBody>
      </p:sp>
      <p:sp>
        <p:nvSpPr>
          <p:cNvPr id="143" name="Google Shape;143;p16"/>
          <p:cNvSpPr/>
          <p:nvPr/>
        </p:nvSpPr>
        <p:spPr>
          <a:xfrm>
            <a:off x="809244" y="4114800"/>
            <a:ext cx="3422142" cy="5143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900"/>
              <a:buFont typeface="Calibri"/>
              <a:buNone/>
            </a:pPr>
            <a:r>
              <a:rPr b="0" i="0" lang="en" sz="900" u="none" cap="none" strike="noStrike">
                <a:solidFill>
                  <a:srgbClr val="B9C6E8"/>
                </a:solidFill>
                <a:latin typeface="Calibri"/>
                <a:ea typeface="Calibri"/>
                <a:cs typeface="Calibri"/>
                <a:sym typeface="Calibri"/>
              </a:rPr>
              <a:t>Generic listings ignore what a shopper has already viewed or bought.</a:t>
            </a:r>
            <a:endParaRPr b="0" i="0" sz="900" u="none" cap="none" strike="noStrike">
              <a:solidFill>
                <a:schemeClr val="dk1"/>
              </a:solidFill>
              <a:latin typeface="Calibri"/>
              <a:ea typeface="Calibri"/>
              <a:cs typeface="Calibri"/>
              <a:sym typeface="Calibri"/>
            </a:endParaRPr>
          </a:p>
        </p:txBody>
      </p:sp>
      <p:sp>
        <p:nvSpPr>
          <p:cNvPr id="144" name="Google Shape;144;p16"/>
          <p:cNvSpPr/>
          <p:nvPr/>
        </p:nvSpPr>
        <p:spPr>
          <a:xfrm>
            <a:off x="4629150" y="3463290"/>
            <a:ext cx="3806190" cy="1268730"/>
          </a:xfrm>
          <a:prstGeom prst="roundRect">
            <a:avLst>
              <a:gd fmla="val 486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6"/>
          <p:cNvSpPr/>
          <p:nvPr/>
        </p:nvSpPr>
        <p:spPr>
          <a:xfrm>
            <a:off x="4821174" y="365531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6"/>
          <p:cNvSpPr/>
          <p:nvPr/>
        </p:nvSpPr>
        <p:spPr>
          <a:xfrm>
            <a:off x="4821174" y="365531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7" name="Google Shape;147;p16"/>
          <p:cNvSpPr/>
          <p:nvPr/>
        </p:nvSpPr>
        <p:spPr>
          <a:xfrm>
            <a:off x="5314950" y="3655314"/>
            <a:ext cx="2948940" cy="37719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Chatbots hallucinate</a:t>
            </a:r>
            <a:endParaRPr b="0" i="0" sz="1100" u="none" cap="none" strike="noStrike">
              <a:solidFill>
                <a:schemeClr val="dk1"/>
              </a:solidFill>
              <a:latin typeface="Calibri"/>
              <a:ea typeface="Calibri"/>
              <a:cs typeface="Calibri"/>
              <a:sym typeface="Calibri"/>
            </a:endParaRPr>
          </a:p>
        </p:txBody>
      </p:sp>
      <p:sp>
        <p:nvSpPr>
          <p:cNvPr id="148" name="Google Shape;148;p16"/>
          <p:cNvSpPr/>
          <p:nvPr/>
        </p:nvSpPr>
        <p:spPr>
          <a:xfrm>
            <a:off x="4821174" y="4114800"/>
            <a:ext cx="3422142" cy="5143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900"/>
              <a:buFont typeface="Calibri"/>
              <a:buNone/>
            </a:pPr>
            <a:r>
              <a:rPr b="0" i="0" lang="en" sz="900" u="none" cap="none" strike="noStrike">
                <a:solidFill>
                  <a:srgbClr val="B9C6E8"/>
                </a:solidFill>
                <a:latin typeface="Calibri"/>
                <a:ea typeface="Calibri"/>
                <a:cs typeface="Calibri"/>
                <a:sym typeface="Calibri"/>
              </a:rPr>
              <a:t>Generic LLM bots invent prices and specs, so shoppers stop trusting them.</a:t>
            </a:r>
            <a:endParaRPr b="0" i="0" sz="900" u="none" cap="none" strike="noStrike">
              <a:solidFill>
                <a:schemeClr val="dk1"/>
              </a:solidFill>
              <a:latin typeface="Calibri"/>
              <a:ea typeface="Calibri"/>
              <a:cs typeface="Calibri"/>
              <a:sym typeface="Calibri"/>
            </a:endParaRPr>
          </a:p>
        </p:txBody>
      </p:sp>
      <p:sp>
        <p:nvSpPr>
          <p:cNvPr id="149" name="Google Shape;149;p16"/>
          <p:cNvSpPr/>
          <p:nvPr/>
        </p:nvSpPr>
        <p:spPr>
          <a:xfrm>
            <a:off x="617220" y="4834890"/>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98C2"/>
              </a:buClr>
              <a:buSzPts val="700"/>
              <a:buFont typeface="Calibri"/>
              <a:buNone/>
            </a:pPr>
            <a:r>
              <a:rPr b="1" i="0" lang="en" sz="700" u="none" cap="none" strike="noStrike">
                <a:solidFill>
                  <a:srgbClr val="8B98C2"/>
                </a:solidFill>
                <a:latin typeface="Calibri"/>
                <a:ea typeface="Calibri"/>
                <a:cs typeface="Calibri"/>
                <a:sym typeface="Calibri"/>
              </a:rPr>
              <a:t>AI SHOPPING ASSISTANT CHATBOT</a:t>
            </a:r>
            <a:endParaRPr b="0" i="0" sz="700" u="none" cap="none" strike="noStrike">
              <a:solidFill>
                <a:schemeClr val="dk1"/>
              </a:solidFill>
              <a:latin typeface="Calibri"/>
              <a:ea typeface="Calibri"/>
              <a:cs typeface="Calibri"/>
              <a:sym typeface="Calibri"/>
            </a:endParaRPr>
          </a:p>
        </p:txBody>
      </p:sp>
      <p:sp>
        <p:nvSpPr>
          <p:cNvPr id="150" name="Google Shape;150;p16"/>
          <p:cNvSpPr/>
          <p:nvPr/>
        </p:nvSpPr>
        <p:spPr>
          <a:xfrm>
            <a:off x="8524494" y="4834890"/>
            <a:ext cx="34290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B98C2"/>
              </a:buClr>
              <a:buSzPts val="800"/>
              <a:buFont typeface="Calibri"/>
              <a:buNone/>
            </a:pPr>
            <a:r>
              <a:rPr b="0" i="0" lang="en" sz="800" u="none" cap="none" strike="noStrike">
                <a:solidFill>
                  <a:srgbClr val="8B98C2"/>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155" name="Shape 155"/>
        <p:cNvGrpSpPr/>
        <p:nvPr/>
      </p:nvGrpSpPr>
      <p:grpSpPr>
        <a:xfrm>
          <a:off x="0" y="0"/>
          <a:ext cx="0" cy="0"/>
          <a:chOff x="0" y="0"/>
          <a:chExt cx="0" cy="0"/>
        </a:xfrm>
      </p:grpSpPr>
      <p:sp>
        <p:nvSpPr>
          <p:cNvPr id="156" name="Google Shape;156;p17"/>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7"/>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7"/>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7"/>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7"/>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7"/>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7"/>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7"/>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7"/>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7"/>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7"/>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7"/>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7"/>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7"/>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7"/>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7"/>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7"/>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7"/>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7"/>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7"/>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7"/>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7"/>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7"/>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7"/>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7"/>
          <p:cNvSpPr/>
          <p:nvPr/>
        </p:nvSpPr>
        <p:spPr>
          <a:xfrm>
            <a:off x="617220" y="342900"/>
            <a:ext cx="61722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000"/>
              <a:buFont typeface="Calibri"/>
              <a:buNone/>
            </a:pPr>
            <a:r>
              <a:rPr b="1" i="0" lang="en" sz="1000" u="none" cap="none" strike="noStrike">
                <a:solidFill>
                  <a:srgbClr val="2FD9C4"/>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81" name="Google Shape;181;p17"/>
          <p:cNvSpPr/>
          <p:nvPr/>
        </p:nvSpPr>
        <p:spPr>
          <a:xfrm>
            <a:off x="617220" y="58293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2300"/>
              <a:buFont typeface="Cambria"/>
              <a:buNone/>
            </a:pPr>
            <a:r>
              <a:rPr b="1" i="0" lang="en" sz="2300" u="none" cap="none" strike="noStrike">
                <a:solidFill>
                  <a:srgbClr val="EDF3FF"/>
                </a:solidFill>
                <a:latin typeface="Cambria"/>
                <a:ea typeface="Cambria"/>
                <a:cs typeface="Cambria"/>
                <a:sym typeface="Cambria"/>
              </a:rPr>
              <a:t>A Grounded, Conversational Assistant</a:t>
            </a:r>
            <a:endParaRPr b="0" i="0" sz="2300" u="none" cap="none" strike="noStrike">
              <a:solidFill>
                <a:schemeClr val="dk1"/>
              </a:solidFill>
              <a:latin typeface="Calibri"/>
              <a:ea typeface="Calibri"/>
              <a:cs typeface="Calibri"/>
              <a:sym typeface="Calibri"/>
            </a:endParaRPr>
          </a:p>
        </p:txBody>
      </p:sp>
      <p:sp>
        <p:nvSpPr>
          <p:cNvPr id="182" name="Google Shape;182;p17"/>
          <p:cNvSpPr/>
          <p:nvPr/>
        </p:nvSpPr>
        <p:spPr>
          <a:xfrm>
            <a:off x="617220" y="1165860"/>
            <a:ext cx="7818120"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B9C6E8"/>
              </a:buClr>
              <a:buSzPts val="1100"/>
              <a:buFont typeface="Calibri"/>
              <a:buNone/>
            </a:pPr>
            <a:r>
              <a:rPr b="0" i="0" lang="en" sz="1100" u="none" cap="none" strike="noStrike">
                <a:solidFill>
                  <a:srgbClr val="B9C6E8"/>
                </a:solidFill>
                <a:latin typeface="Calibri"/>
                <a:ea typeface="Calibri"/>
                <a:cs typeface="Calibri"/>
                <a:sym typeface="Calibri"/>
              </a:rPr>
              <a:t>DemoShop pairs a full storefront with an assistant that uses OpenAI function calling to query the live product database directly — every price, spec and recommendation is fetched from real data.</a:t>
            </a:r>
            <a:endParaRPr b="0" i="0" sz="1100" u="none" cap="none" strike="noStrike">
              <a:solidFill>
                <a:schemeClr val="dk1"/>
              </a:solidFill>
              <a:latin typeface="Calibri"/>
              <a:ea typeface="Calibri"/>
              <a:cs typeface="Calibri"/>
              <a:sym typeface="Calibri"/>
            </a:endParaRPr>
          </a:p>
        </p:txBody>
      </p:sp>
      <p:sp>
        <p:nvSpPr>
          <p:cNvPr id="183" name="Google Shape;183;p17"/>
          <p:cNvSpPr/>
          <p:nvPr/>
        </p:nvSpPr>
        <p:spPr>
          <a:xfrm>
            <a:off x="617220" y="1748790"/>
            <a:ext cx="41148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900"/>
              <a:buFont typeface="Calibri"/>
              <a:buNone/>
            </a:pPr>
            <a:r>
              <a:rPr b="1" i="0" lang="en" sz="900" u="none" cap="none" strike="noStrike">
                <a:solidFill>
                  <a:srgbClr val="2FD9C4"/>
                </a:solidFill>
                <a:latin typeface="Calibri"/>
                <a:ea typeface="Calibri"/>
                <a:cs typeface="Calibri"/>
                <a:sym typeface="Calibri"/>
              </a:rPr>
              <a:t>WORKING FLOW</a:t>
            </a:r>
            <a:endParaRPr b="0" i="0" sz="900" u="none" cap="none" strike="noStrike">
              <a:solidFill>
                <a:schemeClr val="dk1"/>
              </a:solidFill>
              <a:latin typeface="Calibri"/>
              <a:ea typeface="Calibri"/>
              <a:cs typeface="Calibri"/>
              <a:sym typeface="Calibri"/>
            </a:endParaRPr>
          </a:p>
        </p:txBody>
      </p:sp>
      <p:sp>
        <p:nvSpPr>
          <p:cNvPr id="184" name="Google Shape;184;p17"/>
          <p:cNvSpPr/>
          <p:nvPr/>
        </p:nvSpPr>
        <p:spPr>
          <a:xfrm>
            <a:off x="617220" y="2023110"/>
            <a:ext cx="20574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85" name="Google Shape;185;p17"/>
          <p:cNvSpPr/>
          <p:nvPr/>
        </p:nvSpPr>
        <p:spPr>
          <a:xfrm>
            <a:off x="809244" y="2023110"/>
            <a:ext cx="3648456" cy="5143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900"/>
              <a:buFont typeface="Calibri"/>
              <a:buNone/>
            </a:pPr>
            <a:r>
              <a:rPr b="1" i="0" lang="en" sz="900" u="none" cap="none" strike="noStrike">
                <a:solidFill>
                  <a:srgbClr val="EDF3FF"/>
                </a:solidFill>
                <a:latin typeface="Calibri"/>
                <a:ea typeface="Calibri"/>
                <a:cs typeface="Calibri"/>
                <a:sym typeface="Calibri"/>
              </a:rPr>
              <a:t>Understand Intent:  </a:t>
            </a:r>
            <a:r>
              <a:rPr b="0" i="0" lang="en" sz="900" u="none" cap="none" strike="noStrike">
                <a:solidFill>
                  <a:srgbClr val="B9C6E8"/>
                </a:solidFill>
                <a:latin typeface="Calibri"/>
                <a:ea typeface="Calibri"/>
                <a:cs typeface="Calibri"/>
                <a:sym typeface="Calibri"/>
              </a:rPr>
              <a:t>Parse the user's message to detect intent (search, compare, ask spec, recommend).</a:t>
            </a:r>
            <a:endParaRPr b="0" i="0" sz="900" u="none" cap="none" strike="noStrike">
              <a:solidFill>
                <a:schemeClr val="dk1"/>
              </a:solidFill>
              <a:latin typeface="Calibri"/>
              <a:ea typeface="Calibri"/>
              <a:cs typeface="Calibri"/>
              <a:sym typeface="Calibri"/>
            </a:endParaRPr>
          </a:p>
        </p:txBody>
      </p:sp>
      <p:sp>
        <p:nvSpPr>
          <p:cNvPr id="186" name="Google Shape;186;p17"/>
          <p:cNvSpPr/>
          <p:nvPr/>
        </p:nvSpPr>
        <p:spPr>
          <a:xfrm>
            <a:off x="617220" y="2558034"/>
            <a:ext cx="20574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87" name="Google Shape;187;p17"/>
          <p:cNvSpPr/>
          <p:nvPr/>
        </p:nvSpPr>
        <p:spPr>
          <a:xfrm>
            <a:off x="809244" y="2558034"/>
            <a:ext cx="3648456" cy="5143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900"/>
              <a:buFont typeface="Calibri"/>
              <a:buNone/>
            </a:pPr>
            <a:r>
              <a:rPr b="1" i="0" lang="en" sz="900" u="none" cap="none" strike="noStrike">
                <a:solidFill>
                  <a:srgbClr val="EDF3FF"/>
                </a:solidFill>
                <a:latin typeface="Calibri"/>
                <a:ea typeface="Calibri"/>
                <a:cs typeface="Calibri"/>
                <a:sym typeface="Calibri"/>
              </a:rPr>
              <a:t>Fetch Data:  </a:t>
            </a:r>
            <a:r>
              <a:rPr b="0" i="0" lang="en" sz="900" u="none" cap="none" strike="noStrike">
                <a:solidFill>
                  <a:srgbClr val="B9C6E8"/>
                </a:solidFill>
                <a:latin typeface="Calibri"/>
                <a:ea typeface="Calibri"/>
                <a:cs typeface="Calibri"/>
                <a:sym typeface="Calibri"/>
              </a:rPr>
              <a:t>Query the product database/catalog for relevant items matching the intent.</a:t>
            </a:r>
            <a:endParaRPr b="0" i="0" sz="900" u="none" cap="none" strike="noStrike">
              <a:solidFill>
                <a:schemeClr val="dk1"/>
              </a:solidFill>
              <a:latin typeface="Calibri"/>
              <a:ea typeface="Calibri"/>
              <a:cs typeface="Calibri"/>
              <a:sym typeface="Calibri"/>
            </a:endParaRPr>
          </a:p>
        </p:txBody>
      </p:sp>
      <p:sp>
        <p:nvSpPr>
          <p:cNvPr id="188" name="Google Shape;188;p17"/>
          <p:cNvSpPr/>
          <p:nvPr/>
        </p:nvSpPr>
        <p:spPr>
          <a:xfrm>
            <a:off x="617220" y="3092958"/>
            <a:ext cx="20574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89" name="Google Shape;189;p17"/>
          <p:cNvSpPr/>
          <p:nvPr/>
        </p:nvSpPr>
        <p:spPr>
          <a:xfrm>
            <a:off x="809244" y="3092958"/>
            <a:ext cx="3648456" cy="5143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900"/>
              <a:buFont typeface="Calibri"/>
              <a:buNone/>
            </a:pPr>
            <a:r>
              <a:rPr b="1" i="0" lang="en" sz="900" u="none" cap="none" strike="noStrike">
                <a:solidFill>
                  <a:srgbClr val="EDF3FF"/>
                </a:solidFill>
                <a:latin typeface="Calibri"/>
                <a:ea typeface="Calibri"/>
                <a:cs typeface="Calibri"/>
                <a:sym typeface="Calibri"/>
              </a:rPr>
              <a:t>Ground Response:  </a:t>
            </a:r>
            <a:r>
              <a:rPr b="0" i="0" lang="en" sz="900" u="none" cap="none" strike="noStrike">
                <a:solidFill>
                  <a:srgbClr val="B9C6E8"/>
                </a:solidFill>
                <a:latin typeface="Calibri"/>
                <a:ea typeface="Calibri"/>
                <a:cs typeface="Calibri"/>
                <a:sym typeface="Calibri"/>
              </a:rPr>
              <a:t>Pass the fetched product data + user message to the model to generate a natural reply.</a:t>
            </a:r>
            <a:endParaRPr b="0" i="0" sz="900" u="none" cap="none" strike="noStrike">
              <a:solidFill>
                <a:schemeClr val="dk1"/>
              </a:solidFill>
              <a:latin typeface="Calibri"/>
              <a:ea typeface="Calibri"/>
              <a:cs typeface="Calibri"/>
              <a:sym typeface="Calibri"/>
            </a:endParaRPr>
          </a:p>
        </p:txBody>
      </p:sp>
      <p:sp>
        <p:nvSpPr>
          <p:cNvPr id="190" name="Google Shape;190;p17"/>
          <p:cNvSpPr/>
          <p:nvPr/>
        </p:nvSpPr>
        <p:spPr>
          <a:xfrm>
            <a:off x="4629150" y="2023110"/>
            <a:ext cx="20574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91" name="Google Shape;191;p17"/>
          <p:cNvSpPr/>
          <p:nvPr/>
        </p:nvSpPr>
        <p:spPr>
          <a:xfrm>
            <a:off x="4821174" y="2023110"/>
            <a:ext cx="3648456" cy="5143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900"/>
              <a:buFont typeface="Calibri"/>
              <a:buNone/>
            </a:pPr>
            <a:r>
              <a:rPr b="1" i="0" lang="en" sz="900" u="none" cap="none" strike="noStrike">
                <a:solidFill>
                  <a:srgbClr val="EDF3FF"/>
                </a:solidFill>
                <a:latin typeface="Calibri"/>
                <a:ea typeface="Calibri"/>
                <a:cs typeface="Calibri"/>
                <a:sym typeface="Calibri"/>
              </a:rPr>
              <a:t>Personalize:  </a:t>
            </a:r>
            <a:r>
              <a:rPr b="0" i="0" lang="en" sz="900" u="none" cap="none" strike="noStrike">
                <a:solidFill>
                  <a:srgbClr val="B9C6E8"/>
                </a:solidFill>
                <a:latin typeface="Calibri"/>
                <a:ea typeface="Calibri"/>
                <a:cs typeface="Calibri"/>
                <a:sym typeface="Calibri"/>
              </a:rPr>
              <a:t>Factor in the user's browsing/purchase history for recommendations.</a:t>
            </a:r>
            <a:endParaRPr b="0" i="0" sz="900" u="none" cap="none" strike="noStrike">
              <a:solidFill>
                <a:schemeClr val="dk1"/>
              </a:solidFill>
              <a:latin typeface="Calibri"/>
              <a:ea typeface="Calibri"/>
              <a:cs typeface="Calibri"/>
              <a:sym typeface="Calibri"/>
            </a:endParaRPr>
          </a:p>
        </p:txBody>
      </p:sp>
      <p:sp>
        <p:nvSpPr>
          <p:cNvPr id="192" name="Google Shape;192;p17"/>
          <p:cNvSpPr/>
          <p:nvPr/>
        </p:nvSpPr>
        <p:spPr>
          <a:xfrm>
            <a:off x="4629150" y="2558034"/>
            <a:ext cx="20574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93" name="Google Shape;193;p17"/>
          <p:cNvSpPr/>
          <p:nvPr/>
        </p:nvSpPr>
        <p:spPr>
          <a:xfrm>
            <a:off x="4821174" y="2558034"/>
            <a:ext cx="3648456" cy="5143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900"/>
              <a:buFont typeface="Calibri"/>
              <a:buNone/>
            </a:pPr>
            <a:r>
              <a:rPr b="1" i="0" lang="en" sz="900" u="none" cap="none" strike="noStrike">
                <a:solidFill>
                  <a:srgbClr val="EDF3FF"/>
                </a:solidFill>
                <a:latin typeface="Calibri"/>
                <a:ea typeface="Calibri"/>
                <a:cs typeface="Calibri"/>
                <a:sym typeface="Calibri"/>
              </a:rPr>
              <a:t>Clarify When Needed:  </a:t>
            </a:r>
            <a:r>
              <a:rPr b="0" i="0" lang="en" sz="900" u="none" cap="none" strike="noStrike">
                <a:solidFill>
                  <a:srgbClr val="B9C6E8"/>
                </a:solidFill>
                <a:latin typeface="Calibri"/>
                <a:ea typeface="Calibri"/>
                <a:cs typeface="Calibri"/>
                <a:sym typeface="Calibri"/>
              </a:rPr>
              <a:t>If the request is ambiguous (e.g. budget/size not given), ask a follow-up question.</a:t>
            </a:r>
            <a:endParaRPr b="0" i="0" sz="900" u="none" cap="none" strike="noStrike">
              <a:solidFill>
                <a:schemeClr val="dk1"/>
              </a:solidFill>
              <a:latin typeface="Calibri"/>
              <a:ea typeface="Calibri"/>
              <a:cs typeface="Calibri"/>
              <a:sym typeface="Calibri"/>
            </a:endParaRPr>
          </a:p>
        </p:txBody>
      </p:sp>
      <p:sp>
        <p:nvSpPr>
          <p:cNvPr id="194" name="Google Shape;194;p17"/>
          <p:cNvSpPr/>
          <p:nvPr/>
        </p:nvSpPr>
        <p:spPr>
          <a:xfrm>
            <a:off x="4629150" y="3092958"/>
            <a:ext cx="20574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95" name="Google Shape;195;p17"/>
          <p:cNvSpPr/>
          <p:nvPr/>
        </p:nvSpPr>
        <p:spPr>
          <a:xfrm>
            <a:off x="4821174" y="3092958"/>
            <a:ext cx="3648456" cy="5143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900"/>
              <a:buFont typeface="Calibri"/>
              <a:buNone/>
            </a:pPr>
            <a:r>
              <a:rPr b="1" i="0" lang="en" sz="900" u="none" cap="none" strike="noStrike">
                <a:solidFill>
                  <a:srgbClr val="EDF3FF"/>
                </a:solidFill>
                <a:latin typeface="Calibri"/>
                <a:ea typeface="Calibri"/>
                <a:cs typeface="Calibri"/>
                <a:sym typeface="Calibri"/>
              </a:rPr>
              <a:t>Respond &amp; Continue:  </a:t>
            </a:r>
            <a:r>
              <a:rPr b="0" i="0" lang="en" sz="900" u="none" cap="none" strike="noStrike">
                <a:solidFill>
                  <a:srgbClr val="B9C6E8"/>
                </a:solidFill>
                <a:latin typeface="Calibri"/>
                <a:ea typeface="Calibri"/>
                <a:cs typeface="Calibri"/>
                <a:sym typeface="Calibri"/>
              </a:rPr>
              <a:t>Return the answer and keep conversation context for follow-up turns.</a:t>
            </a:r>
            <a:endParaRPr b="0" i="0" sz="900" u="none" cap="none" strike="noStrike">
              <a:solidFill>
                <a:schemeClr val="dk1"/>
              </a:solidFill>
              <a:latin typeface="Calibri"/>
              <a:ea typeface="Calibri"/>
              <a:cs typeface="Calibri"/>
              <a:sym typeface="Calibri"/>
            </a:endParaRPr>
          </a:p>
        </p:txBody>
      </p:sp>
      <p:sp>
        <p:nvSpPr>
          <p:cNvPr id="196" name="Google Shape;196;p17"/>
          <p:cNvSpPr/>
          <p:nvPr/>
        </p:nvSpPr>
        <p:spPr>
          <a:xfrm>
            <a:off x="617220" y="4354830"/>
            <a:ext cx="7886700" cy="514350"/>
          </a:xfrm>
          <a:prstGeom prst="roundRect">
            <a:avLst>
              <a:gd fmla="val 10667" name="adj"/>
            </a:avLst>
          </a:prstGeom>
          <a:solidFill>
            <a:srgbClr val="24345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7"/>
          <p:cNvSpPr/>
          <p:nvPr/>
        </p:nvSpPr>
        <p:spPr>
          <a:xfrm>
            <a:off x="788670" y="4354830"/>
            <a:ext cx="7543800"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900"/>
              <a:buFont typeface="Calibri"/>
              <a:buNone/>
            </a:pPr>
            <a:r>
              <a:rPr b="1" i="1" lang="en" sz="900" u="none" cap="none" strike="noStrike">
                <a:solidFill>
                  <a:srgbClr val="2FD9C4"/>
                </a:solidFill>
                <a:latin typeface="Calibri"/>
                <a:ea typeface="Calibri"/>
                <a:cs typeface="Calibri"/>
                <a:sym typeface="Calibri"/>
              </a:rPr>
              <a:t>“Grounded, not generated” —  </a:t>
            </a:r>
            <a:r>
              <a:rPr b="0" i="0" lang="en" sz="900" u="none" cap="none" strike="noStrike">
                <a:solidFill>
                  <a:srgbClr val="B9C6E8"/>
                </a:solidFill>
                <a:latin typeface="Calibri"/>
                <a:ea typeface="Calibri"/>
                <a:cs typeface="Calibri"/>
                <a:sym typeface="Calibri"/>
              </a:rPr>
              <a:t>every assistant reply is backed by a live SQL lookup; zero hallucinated prices or specs.</a:t>
            </a:r>
            <a:endParaRPr b="0" i="0" sz="900" u="none" cap="none" strike="noStrike">
              <a:solidFill>
                <a:schemeClr val="dk1"/>
              </a:solidFill>
              <a:latin typeface="Calibri"/>
              <a:ea typeface="Calibri"/>
              <a:cs typeface="Calibri"/>
              <a:sym typeface="Calibri"/>
            </a:endParaRPr>
          </a:p>
        </p:txBody>
      </p:sp>
      <p:sp>
        <p:nvSpPr>
          <p:cNvPr id="198" name="Google Shape;198;p17"/>
          <p:cNvSpPr/>
          <p:nvPr/>
        </p:nvSpPr>
        <p:spPr>
          <a:xfrm>
            <a:off x="617220" y="4834890"/>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98C2"/>
              </a:buClr>
              <a:buSzPts val="700"/>
              <a:buFont typeface="Calibri"/>
              <a:buNone/>
            </a:pPr>
            <a:r>
              <a:rPr b="1" i="0" lang="en" sz="700" u="none" cap="none" strike="noStrike">
                <a:solidFill>
                  <a:srgbClr val="8B98C2"/>
                </a:solidFill>
                <a:latin typeface="Calibri"/>
                <a:ea typeface="Calibri"/>
                <a:cs typeface="Calibri"/>
                <a:sym typeface="Calibri"/>
              </a:rPr>
              <a:t>AI SHOPPING ASSISTANT CHATBOT</a:t>
            </a:r>
            <a:endParaRPr b="0" i="0" sz="700" u="none" cap="none" strike="noStrike">
              <a:solidFill>
                <a:schemeClr val="dk1"/>
              </a:solidFill>
              <a:latin typeface="Calibri"/>
              <a:ea typeface="Calibri"/>
              <a:cs typeface="Calibri"/>
              <a:sym typeface="Calibri"/>
            </a:endParaRPr>
          </a:p>
        </p:txBody>
      </p:sp>
      <p:sp>
        <p:nvSpPr>
          <p:cNvPr id="199" name="Google Shape;199;p17"/>
          <p:cNvSpPr/>
          <p:nvPr/>
        </p:nvSpPr>
        <p:spPr>
          <a:xfrm>
            <a:off x="8524494" y="4834890"/>
            <a:ext cx="34290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B98C2"/>
              </a:buClr>
              <a:buSzPts val="800"/>
              <a:buFont typeface="Calibri"/>
              <a:buNone/>
            </a:pPr>
            <a:r>
              <a:rPr b="0" i="0" lang="en" sz="800" u="none" cap="none" strike="noStrike">
                <a:solidFill>
                  <a:srgbClr val="8B98C2"/>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204" name="Shape 204"/>
        <p:cNvGrpSpPr/>
        <p:nvPr/>
      </p:nvGrpSpPr>
      <p:grpSpPr>
        <a:xfrm>
          <a:off x="0" y="0"/>
          <a:ext cx="0" cy="0"/>
          <a:chOff x="0" y="0"/>
          <a:chExt cx="0" cy="0"/>
        </a:xfrm>
      </p:grpSpPr>
      <p:sp>
        <p:nvSpPr>
          <p:cNvPr id="205" name="Google Shape;205;p18"/>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8"/>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8"/>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8"/>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8"/>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8"/>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8"/>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8"/>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8"/>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8"/>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8"/>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8"/>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8"/>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8"/>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8"/>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8"/>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8"/>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8"/>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8"/>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8"/>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8"/>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8"/>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8"/>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8"/>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8"/>
          <p:cNvSpPr/>
          <p:nvPr/>
        </p:nvSpPr>
        <p:spPr>
          <a:xfrm>
            <a:off x="617220" y="342900"/>
            <a:ext cx="61722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000"/>
              <a:buFont typeface="Calibri"/>
              <a:buNone/>
            </a:pPr>
            <a:r>
              <a:rPr b="1" i="0" lang="en" sz="1000" u="none" cap="none" strike="noStrike">
                <a:solidFill>
                  <a:srgbClr val="2FD9C4"/>
                </a:solidFill>
                <a:latin typeface="Calibri"/>
                <a:ea typeface="Calibri"/>
                <a:cs typeface="Calibri"/>
                <a:sym typeface="Calibri"/>
              </a:rPr>
              <a:t>UNDER THE HOOD</a:t>
            </a:r>
            <a:endParaRPr b="0" i="0" sz="1000" u="none" cap="none" strike="noStrike">
              <a:solidFill>
                <a:schemeClr val="dk1"/>
              </a:solidFill>
              <a:latin typeface="Calibri"/>
              <a:ea typeface="Calibri"/>
              <a:cs typeface="Calibri"/>
              <a:sym typeface="Calibri"/>
            </a:endParaRPr>
          </a:p>
        </p:txBody>
      </p:sp>
      <p:sp>
        <p:nvSpPr>
          <p:cNvPr id="230" name="Google Shape;230;p18"/>
          <p:cNvSpPr/>
          <p:nvPr/>
        </p:nvSpPr>
        <p:spPr>
          <a:xfrm>
            <a:off x="617220" y="58293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2300"/>
              <a:buFont typeface="Cambria"/>
              <a:buNone/>
            </a:pPr>
            <a:r>
              <a:rPr b="1" i="0" lang="en" sz="2300" u="none" cap="none" strike="noStrike">
                <a:solidFill>
                  <a:srgbClr val="EDF3FF"/>
                </a:solidFill>
                <a:latin typeface="Cambria"/>
                <a:ea typeface="Cambria"/>
                <a:cs typeface="Cambria"/>
                <a:sym typeface="Cambria"/>
              </a:rPr>
              <a:t>Technical Architecture</a:t>
            </a:r>
            <a:endParaRPr b="0" i="0" sz="2300" u="none" cap="none" strike="noStrike">
              <a:solidFill>
                <a:schemeClr val="dk1"/>
              </a:solidFill>
              <a:latin typeface="Calibri"/>
              <a:ea typeface="Calibri"/>
              <a:cs typeface="Calibri"/>
              <a:sym typeface="Calibri"/>
            </a:endParaRPr>
          </a:p>
        </p:txBody>
      </p:sp>
      <p:sp>
        <p:nvSpPr>
          <p:cNvPr id="231" name="Google Shape;231;p18"/>
          <p:cNvSpPr/>
          <p:nvPr/>
        </p:nvSpPr>
        <p:spPr>
          <a:xfrm>
            <a:off x="617220" y="1268730"/>
            <a:ext cx="5143500" cy="630936"/>
          </a:xfrm>
          <a:prstGeom prst="roundRect">
            <a:avLst>
              <a:gd fmla="val 7609"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8"/>
          <p:cNvSpPr/>
          <p:nvPr/>
        </p:nvSpPr>
        <p:spPr>
          <a:xfrm>
            <a:off x="768096" y="1395603"/>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8"/>
          <p:cNvSpPr/>
          <p:nvPr/>
        </p:nvSpPr>
        <p:spPr>
          <a:xfrm>
            <a:off x="768096" y="1395603"/>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00"/>
              <a:buFont typeface="Calibri"/>
              <a:buNone/>
            </a:pPr>
            <a:r>
              <a:rPr b="0" i="0" lang="en" sz="1300" u="none" cap="none" strike="noStrike">
                <a:solidFill>
                  <a:srgbClr val="000000"/>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34" name="Google Shape;234;p18"/>
          <p:cNvSpPr/>
          <p:nvPr/>
        </p:nvSpPr>
        <p:spPr>
          <a:xfrm>
            <a:off x="1268730" y="1337310"/>
            <a:ext cx="377190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800"/>
              <a:buFont typeface="Calibri"/>
              <a:buNone/>
            </a:pPr>
            <a:r>
              <a:rPr b="1" i="0" lang="en" sz="800" u="none" cap="none" strike="noStrike">
                <a:solidFill>
                  <a:srgbClr val="2FD9C4"/>
                </a:solidFill>
                <a:latin typeface="Calibri"/>
                <a:ea typeface="Calibri"/>
                <a:cs typeface="Calibri"/>
                <a:sym typeface="Calibri"/>
              </a:rPr>
              <a:t>FRONTEND</a:t>
            </a:r>
            <a:endParaRPr b="0" i="0" sz="800" u="none" cap="none" strike="noStrike">
              <a:solidFill>
                <a:schemeClr val="dk1"/>
              </a:solidFill>
              <a:latin typeface="Calibri"/>
              <a:ea typeface="Calibri"/>
              <a:cs typeface="Calibri"/>
              <a:sym typeface="Calibri"/>
            </a:endParaRPr>
          </a:p>
        </p:txBody>
      </p:sp>
      <p:sp>
        <p:nvSpPr>
          <p:cNvPr id="235" name="Google Shape;235;p18"/>
          <p:cNvSpPr/>
          <p:nvPr/>
        </p:nvSpPr>
        <p:spPr>
          <a:xfrm>
            <a:off x="1268730" y="1508760"/>
            <a:ext cx="438912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HTML / Vanilla CSS / JS</a:t>
            </a:r>
            <a:endParaRPr b="0" i="0" sz="1100" u="none" cap="none" strike="noStrike">
              <a:solidFill>
                <a:schemeClr val="dk1"/>
              </a:solidFill>
              <a:latin typeface="Calibri"/>
              <a:ea typeface="Calibri"/>
              <a:cs typeface="Calibri"/>
              <a:sym typeface="Calibri"/>
            </a:endParaRPr>
          </a:p>
        </p:txBody>
      </p:sp>
      <p:sp>
        <p:nvSpPr>
          <p:cNvPr id="236" name="Google Shape;236;p18"/>
          <p:cNvSpPr/>
          <p:nvPr/>
        </p:nvSpPr>
        <p:spPr>
          <a:xfrm>
            <a:off x="1268730" y="1714500"/>
            <a:ext cx="438912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Dark, professional Bootstrap-style UI</a:t>
            </a:r>
            <a:endParaRPr b="0" i="0" sz="800" u="none" cap="none" strike="noStrike">
              <a:solidFill>
                <a:schemeClr val="dk1"/>
              </a:solidFill>
              <a:latin typeface="Calibri"/>
              <a:ea typeface="Calibri"/>
              <a:cs typeface="Calibri"/>
              <a:sym typeface="Calibri"/>
            </a:endParaRPr>
          </a:p>
        </p:txBody>
      </p:sp>
      <p:sp>
        <p:nvSpPr>
          <p:cNvPr id="237" name="Google Shape;237;p18"/>
          <p:cNvSpPr/>
          <p:nvPr/>
        </p:nvSpPr>
        <p:spPr>
          <a:xfrm>
            <a:off x="3086100" y="1906524"/>
            <a:ext cx="205740" cy="12344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800"/>
              <a:buFont typeface="Calibri"/>
              <a:buNone/>
            </a:pPr>
            <a:r>
              <a:rPr b="0" i="0" lang="en" sz="800" u="none" cap="none" strike="noStrike">
                <a:solidFill>
                  <a:srgbClr val="2FD9C4"/>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238" name="Google Shape;238;p18"/>
          <p:cNvSpPr/>
          <p:nvPr/>
        </p:nvSpPr>
        <p:spPr>
          <a:xfrm>
            <a:off x="617220" y="2023110"/>
            <a:ext cx="5143500" cy="630936"/>
          </a:xfrm>
          <a:prstGeom prst="roundRect">
            <a:avLst>
              <a:gd fmla="val 7609"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8"/>
          <p:cNvSpPr/>
          <p:nvPr/>
        </p:nvSpPr>
        <p:spPr>
          <a:xfrm>
            <a:off x="768096" y="2149983"/>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8"/>
          <p:cNvSpPr/>
          <p:nvPr/>
        </p:nvSpPr>
        <p:spPr>
          <a:xfrm>
            <a:off x="768096" y="2149983"/>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00"/>
              <a:buFont typeface="Calibri"/>
              <a:buNone/>
            </a:pPr>
            <a:r>
              <a:rPr b="0" i="0" lang="en" sz="1300" u="none" cap="none" strike="noStrike">
                <a:solidFill>
                  <a:srgbClr val="000000"/>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41" name="Google Shape;241;p18"/>
          <p:cNvSpPr/>
          <p:nvPr/>
        </p:nvSpPr>
        <p:spPr>
          <a:xfrm>
            <a:off x="1268730" y="2091690"/>
            <a:ext cx="377190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800"/>
              <a:buFont typeface="Calibri"/>
              <a:buNone/>
            </a:pPr>
            <a:r>
              <a:rPr b="1" i="0" lang="en" sz="800" u="none" cap="none" strike="noStrike">
                <a:solidFill>
                  <a:srgbClr val="2FD9C4"/>
                </a:solidFill>
                <a:latin typeface="Calibri"/>
                <a:ea typeface="Calibri"/>
                <a:cs typeface="Calibri"/>
                <a:sym typeface="Calibri"/>
              </a:rPr>
              <a:t>BACKEND</a:t>
            </a:r>
            <a:endParaRPr b="0" i="0" sz="800" u="none" cap="none" strike="noStrike">
              <a:solidFill>
                <a:schemeClr val="dk1"/>
              </a:solidFill>
              <a:latin typeface="Calibri"/>
              <a:ea typeface="Calibri"/>
              <a:cs typeface="Calibri"/>
              <a:sym typeface="Calibri"/>
            </a:endParaRPr>
          </a:p>
        </p:txBody>
      </p:sp>
      <p:sp>
        <p:nvSpPr>
          <p:cNvPr id="242" name="Google Shape;242;p18"/>
          <p:cNvSpPr/>
          <p:nvPr/>
        </p:nvSpPr>
        <p:spPr>
          <a:xfrm>
            <a:off x="1268730" y="2263140"/>
            <a:ext cx="438912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FastAPI</a:t>
            </a:r>
            <a:endParaRPr b="0" i="0" sz="1100" u="none" cap="none" strike="noStrike">
              <a:solidFill>
                <a:schemeClr val="dk1"/>
              </a:solidFill>
              <a:latin typeface="Calibri"/>
              <a:ea typeface="Calibri"/>
              <a:cs typeface="Calibri"/>
              <a:sym typeface="Calibri"/>
            </a:endParaRPr>
          </a:p>
        </p:txBody>
      </p:sp>
      <p:sp>
        <p:nvSpPr>
          <p:cNvPr id="243" name="Google Shape;243;p18"/>
          <p:cNvSpPr/>
          <p:nvPr/>
        </p:nvSpPr>
        <p:spPr>
          <a:xfrm>
            <a:off x="1268730" y="2468880"/>
            <a:ext cx="438912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Async Python API layer &amp; request routing</a:t>
            </a:r>
            <a:endParaRPr b="0" i="0" sz="800" u="none" cap="none" strike="noStrike">
              <a:solidFill>
                <a:schemeClr val="dk1"/>
              </a:solidFill>
              <a:latin typeface="Calibri"/>
              <a:ea typeface="Calibri"/>
              <a:cs typeface="Calibri"/>
              <a:sym typeface="Calibri"/>
            </a:endParaRPr>
          </a:p>
        </p:txBody>
      </p:sp>
      <p:sp>
        <p:nvSpPr>
          <p:cNvPr id="244" name="Google Shape;244;p18"/>
          <p:cNvSpPr/>
          <p:nvPr/>
        </p:nvSpPr>
        <p:spPr>
          <a:xfrm>
            <a:off x="3086100" y="2660904"/>
            <a:ext cx="205740" cy="12344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800"/>
              <a:buFont typeface="Calibri"/>
              <a:buNone/>
            </a:pPr>
            <a:r>
              <a:rPr b="0" i="0" lang="en" sz="800" u="none" cap="none" strike="noStrike">
                <a:solidFill>
                  <a:srgbClr val="2FD9C4"/>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245" name="Google Shape;245;p18"/>
          <p:cNvSpPr/>
          <p:nvPr/>
        </p:nvSpPr>
        <p:spPr>
          <a:xfrm>
            <a:off x="617220" y="2777490"/>
            <a:ext cx="5143500" cy="630936"/>
          </a:xfrm>
          <a:prstGeom prst="roundRect">
            <a:avLst>
              <a:gd fmla="val 7609"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8"/>
          <p:cNvSpPr/>
          <p:nvPr/>
        </p:nvSpPr>
        <p:spPr>
          <a:xfrm>
            <a:off x="768096" y="2904363"/>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8"/>
          <p:cNvSpPr/>
          <p:nvPr/>
        </p:nvSpPr>
        <p:spPr>
          <a:xfrm>
            <a:off x="768096" y="2904363"/>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00"/>
              <a:buFont typeface="Calibri"/>
              <a:buNone/>
            </a:pPr>
            <a:r>
              <a:rPr b="0" i="0" lang="en" sz="1300" u="none" cap="none" strike="noStrike">
                <a:solidFill>
                  <a:srgbClr val="000000"/>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48" name="Google Shape;248;p18"/>
          <p:cNvSpPr/>
          <p:nvPr/>
        </p:nvSpPr>
        <p:spPr>
          <a:xfrm>
            <a:off x="1268730" y="2846070"/>
            <a:ext cx="377190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800"/>
              <a:buFont typeface="Calibri"/>
              <a:buNone/>
            </a:pPr>
            <a:r>
              <a:rPr b="1" i="0" lang="en" sz="800" u="none" cap="none" strike="noStrike">
                <a:solidFill>
                  <a:srgbClr val="2FD9C4"/>
                </a:solidFill>
                <a:latin typeface="Calibri"/>
                <a:ea typeface="Calibri"/>
                <a:cs typeface="Calibri"/>
                <a:sym typeface="Calibri"/>
              </a:rPr>
              <a:t>AI LAYER</a:t>
            </a:r>
            <a:endParaRPr b="0" i="0" sz="800" u="none" cap="none" strike="noStrike">
              <a:solidFill>
                <a:schemeClr val="dk1"/>
              </a:solidFill>
              <a:latin typeface="Calibri"/>
              <a:ea typeface="Calibri"/>
              <a:cs typeface="Calibri"/>
              <a:sym typeface="Calibri"/>
            </a:endParaRPr>
          </a:p>
        </p:txBody>
      </p:sp>
      <p:sp>
        <p:nvSpPr>
          <p:cNvPr id="249" name="Google Shape;249;p18"/>
          <p:cNvSpPr/>
          <p:nvPr/>
        </p:nvSpPr>
        <p:spPr>
          <a:xfrm>
            <a:off x="1268730" y="3017520"/>
            <a:ext cx="438912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OpenAI API — Tool / Function Calling</a:t>
            </a:r>
            <a:endParaRPr b="0" i="0" sz="1100" u="none" cap="none" strike="noStrike">
              <a:solidFill>
                <a:schemeClr val="dk1"/>
              </a:solidFill>
              <a:latin typeface="Calibri"/>
              <a:ea typeface="Calibri"/>
              <a:cs typeface="Calibri"/>
              <a:sym typeface="Calibri"/>
            </a:endParaRPr>
          </a:p>
        </p:txBody>
      </p:sp>
      <p:sp>
        <p:nvSpPr>
          <p:cNvPr id="250" name="Google Shape;250;p18"/>
          <p:cNvSpPr/>
          <p:nvPr/>
        </p:nvSpPr>
        <p:spPr>
          <a:xfrm>
            <a:off x="1268730" y="3223260"/>
            <a:ext cx="438912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Interprets intent, invokes catalog tools</a:t>
            </a:r>
            <a:endParaRPr b="0" i="0" sz="800" u="none" cap="none" strike="noStrike">
              <a:solidFill>
                <a:schemeClr val="dk1"/>
              </a:solidFill>
              <a:latin typeface="Calibri"/>
              <a:ea typeface="Calibri"/>
              <a:cs typeface="Calibri"/>
              <a:sym typeface="Calibri"/>
            </a:endParaRPr>
          </a:p>
        </p:txBody>
      </p:sp>
      <p:sp>
        <p:nvSpPr>
          <p:cNvPr id="251" name="Google Shape;251;p18"/>
          <p:cNvSpPr/>
          <p:nvPr/>
        </p:nvSpPr>
        <p:spPr>
          <a:xfrm>
            <a:off x="3086100" y="3415284"/>
            <a:ext cx="205740" cy="12344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800"/>
              <a:buFont typeface="Calibri"/>
              <a:buNone/>
            </a:pPr>
            <a:r>
              <a:rPr b="0" i="0" lang="en" sz="800" u="none" cap="none" strike="noStrike">
                <a:solidFill>
                  <a:srgbClr val="2FD9C4"/>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252" name="Google Shape;252;p18"/>
          <p:cNvSpPr/>
          <p:nvPr/>
        </p:nvSpPr>
        <p:spPr>
          <a:xfrm>
            <a:off x="617220" y="3531870"/>
            <a:ext cx="5143500" cy="630936"/>
          </a:xfrm>
          <a:prstGeom prst="roundRect">
            <a:avLst>
              <a:gd fmla="val 7609"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8"/>
          <p:cNvSpPr/>
          <p:nvPr/>
        </p:nvSpPr>
        <p:spPr>
          <a:xfrm>
            <a:off x="768096" y="3658743"/>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8"/>
          <p:cNvSpPr/>
          <p:nvPr/>
        </p:nvSpPr>
        <p:spPr>
          <a:xfrm>
            <a:off x="768096" y="3658743"/>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00"/>
              <a:buFont typeface="Calibri"/>
              <a:buNone/>
            </a:pPr>
            <a:r>
              <a:rPr b="0" i="0" lang="en" sz="1300" u="none" cap="none" strike="noStrike">
                <a:solidFill>
                  <a:srgbClr val="000000"/>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55" name="Google Shape;255;p18"/>
          <p:cNvSpPr/>
          <p:nvPr/>
        </p:nvSpPr>
        <p:spPr>
          <a:xfrm>
            <a:off x="1268730" y="3600450"/>
            <a:ext cx="377190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800"/>
              <a:buFont typeface="Calibri"/>
              <a:buNone/>
            </a:pPr>
            <a:r>
              <a:rPr b="1" i="0" lang="en" sz="800" u="none" cap="none" strike="noStrike">
                <a:solidFill>
                  <a:srgbClr val="2FD9C4"/>
                </a:solidFill>
                <a:latin typeface="Calibri"/>
                <a:ea typeface="Calibri"/>
                <a:cs typeface="Calibri"/>
                <a:sym typeface="Calibri"/>
              </a:rPr>
              <a:t>DATA LAYER</a:t>
            </a:r>
            <a:endParaRPr b="0" i="0" sz="800" u="none" cap="none" strike="noStrike">
              <a:solidFill>
                <a:schemeClr val="dk1"/>
              </a:solidFill>
              <a:latin typeface="Calibri"/>
              <a:ea typeface="Calibri"/>
              <a:cs typeface="Calibri"/>
              <a:sym typeface="Calibri"/>
            </a:endParaRPr>
          </a:p>
        </p:txBody>
      </p:sp>
      <p:sp>
        <p:nvSpPr>
          <p:cNvPr id="256" name="Google Shape;256;p18"/>
          <p:cNvSpPr/>
          <p:nvPr/>
        </p:nvSpPr>
        <p:spPr>
          <a:xfrm>
            <a:off x="1268730" y="3771900"/>
            <a:ext cx="438912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100"/>
              <a:buFont typeface="Calibri"/>
              <a:buNone/>
            </a:pPr>
            <a:r>
              <a:rPr b="1" i="0" lang="en" sz="1100" u="none" cap="none" strike="noStrike">
                <a:solidFill>
                  <a:srgbClr val="EDF3FF"/>
                </a:solidFill>
                <a:latin typeface="Calibri"/>
                <a:ea typeface="Calibri"/>
                <a:cs typeface="Calibri"/>
                <a:sym typeface="Calibri"/>
              </a:rPr>
              <a:t>SQLAlchemy ORM + SQLite</a:t>
            </a:r>
            <a:endParaRPr b="0" i="0" sz="1100" u="none" cap="none" strike="noStrike">
              <a:solidFill>
                <a:schemeClr val="dk1"/>
              </a:solidFill>
              <a:latin typeface="Calibri"/>
              <a:ea typeface="Calibri"/>
              <a:cs typeface="Calibri"/>
              <a:sym typeface="Calibri"/>
            </a:endParaRPr>
          </a:p>
        </p:txBody>
      </p:sp>
      <p:sp>
        <p:nvSpPr>
          <p:cNvPr id="257" name="Google Shape;257;p18"/>
          <p:cNvSpPr/>
          <p:nvPr/>
        </p:nvSpPr>
        <p:spPr>
          <a:xfrm>
            <a:off x="1268730" y="3977640"/>
            <a:ext cx="4389120"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250-product catalog, users, chat history</a:t>
            </a:r>
            <a:endParaRPr b="0" i="0" sz="800" u="none" cap="none" strike="noStrike">
              <a:solidFill>
                <a:schemeClr val="dk1"/>
              </a:solidFill>
              <a:latin typeface="Calibri"/>
              <a:ea typeface="Calibri"/>
              <a:cs typeface="Calibri"/>
              <a:sym typeface="Calibri"/>
            </a:endParaRPr>
          </a:p>
        </p:txBody>
      </p:sp>
      <p:sp>
        <p:nvSpPr>
          <p:cNvPr id="258" name="Google Shape;258;p18"/>
          <p:cNvSpPr/>
          <p:nvPr/>
        </p:nvSpPr>
        <p:spPr>
          <a:xfrm>
            <a:off x="6377950" y="1256742"/>
            <a:ext cx="2503200" cy="2894100"/>
          </a:xfrm>
          <a:prstGeom prst="roundRect">
            <a:avLst>
              <a:gd fmla="val 2192" name="adj"/>
            </a:avLst>
          </a:prstGeom>
          <a:solidFill>
            <a:srgbClr val="24345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8"/>
          <p:cNvSpPr/>
          <p:nvPr/>
        </p:nvSpPr>
        <p:spPr>
          <a:xfrm>
            <a:off x="6491440" y="1472755"/>
            <a:ext cx="20916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800"/>
              <a:buFont typeface="Calibri"/>
              <a:buNone/>
            </a:pPr>
            <a:r>
              <a:rPr b="1" i="0" lang="en" sz="800" u="none" cap="none" strike="noStrike">
                <a:solidFill>
                  <a:srgbClr val="2FD9C4"/>
                </a:solidFill>
                <a:latin typeface="Calibri"/>
                <a:ea typeface="Calibri"/>
                <a:cs typeface="Calibri"/>
                <a:sym typeface="Calibri"/>
              </a:rPr>
              <a:t>DATABASE STRUCTURE</a:t>
            </a:r>
            <a:endParaRPr b="0" i="0" sz="800" u="none" cap="none" strike="noStrike">
              <a:solidFill>
                <a:schemeClr val="dk1"/>
              </a:solidFill>
              <a:latin typeface="Calibri"/>
              <a:ea typeface="Calibri"/>
              <a:cs typeface="Calibri"/>
              <a:sym typeface="Calibri"/>
            </a:endParaRPr>
          </a:p>
        </p:txBody>
      </p:sp>
      <p:sp>
        <p:nvSpPr>
          <p:cNvPr id="260" name="Google Shape;260;p18"/>
          <p:cNvSpPr/>
          <p:nvPr/>
        </p:nvSpPr>
        <p:spPr>
          <a:xfrm>
            <a:off x="6577090" y="1841429"/>
            <a:ext cx="1920300" cy="6171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800"/>
              <a:buFont typeface="Calibri"/>
              <a:buNone/>
            </a:pPr>
            <a:r>
              <a:rPr b="1" i="0" lang="en" sz="800" u="none" cap="none" strike="noStrike">
                <a:solidFill>
                  <a:srgbClr val="EDF3FF"/>
                </a:solidFill>
                <a:latin typeface="Calibri"/>
                <a:ea typeface="Calibri"/>
                <a:cs typeface="Calibri"/>
                <a:sym typeface="Calibri"/>
              </a:rPr>
              <a:t>Users — </a:t>
            </a:r>
            <a:r>
              <a:rPr b="0" i="0" lang="en" sz="800" u="none" cap="none" strike="noStrike">
                <a:solidFill>
                  <a:srgbClr val="B9C6E8"/>
                </a:solidFill>
                <a:latin typeface="Calibri"/>
                <a:ea typeface="Calibri"/>
                <a:cs typeface="Calibri"/>
                <a:sym typeface="Calibri"/>
              </a:rPr>
              <a:t>authentication, browsing &amp; purchase history (JSON)</a:t>
            </a:r>
            <a:endParaRPr b="0" i="0" sz="800" u="none" cap="none" strike="noStrike">
              <a:solidFill>
                <a:schemeClr val="dk1"/>
              </a:solidFill>
              <a:latin typeface="Calibri"/>
              <a:ea typeface="Calibri"/>
              <a:cs typeface="Calibri"/>
              <a:sym typeface="Calibri"/>
            </a:endParaRPr>
          </a:p>
        </p:txBody>
      </p:sp>
      <p:sp>
        <p:nvSpPr>
          <p:cNvPr id="261" name="Google Shape;261;p18"/>
          <p:cNvSpPr/>
          <p:nvPr/>
        </p:nvSpPr>
        <p:spPr>
          <a:xfrm>
            <a:off x="6577090" y="2400354"/>
            <a:ext cx="1920300" cy="6171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800"/>
              <a:buFont typeface="Calibri"/>
              <a:buNone/>
            </a:pPr>
            <a:r>
              <a:rPr b="1" i="0" lang="en" sz="800" u="none" cap="none" strike="noStrike">
                <a:solidFill>
                  <a:srgbClr val="EDF3FF"/>
                </a:solidFill>
                <a:latin typeface="Calibri"/>
                <a:ea typeface="Calibri"/>
                <a:cs typeface="Calibri"/>
                <a:sym typeface="Calibri"/>
              </a:rPr>
              <a:t>Products — </a:t>
            </a:r>
            <a:r>
              <a:rPr b="0" i="0" lang="en" sz="800" u="none" cap="none" strike="noStrike">
                <a:solidFill>
                  <a:srgbClr val="B9C6E8"/>
                </a:solidFill>
                <a:latin typeface="Calibri"/>
                <a:ea typeface="Calibri"/>
                <a:cs typeface="Calibri"/>
                <a:sym typeface="Calibri"/>
              </a:rPr>
              <a:t>250 items — name, category, brand, price, specs (JSON)</a:t>
            </a:r>
            <a:endParaRPr b="0" i="0" sz="800" u="none" cap="none" strike="noStrike">
              <a:solidFill>
                <a:schemeClr val="dk1"/>
              </a:solidFill>
              <a:latin typeface="Calibri"/>
              <a:ea typeface="Calibri"/>
              <a:cs typeface="Calibri"/>
              <a:sym typeface="Calibri"/>
            </a:endParaRPr>
          </a:p>
        </p:txBody>
      </p:sp>
      <p:sp>
        <p:nvSpPr>
          <p:cNvPr id="262" name="Google Shape;262;p18"/>
          <p:cNvSpPr/>
          <p:nvPr/>
        </p:nvSpPr>
        <p:spPr>
          <a:xfrm>
            <a:off x="6577090" y="3099791"/>
            <a:ext cx="1920300" cy="6171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EDF3FF"/>
              </a:buClr>
              <a:buSzPts val="800"/>
              <a:buFont typeface="Calibri"/>
              <a:buNone/>
            </a:pPr>
            <a:r>
              <a:rPr b="1" i="0" lang="en" sz="800" u="none" cap="none" strike="noStrike">
                <a:solidFill>
                  <a:srgbClr val="EDF3FF"/>
                </a:solidFill>
                <a:latin typeface="Calibri"/>
                <a:ea typeface="Calibri"/>
                <a:cs typeface="Calibri"/>
                <a:sym typeface="Calibri"/>
              </a:rPr>
              <a:t>ChatSessions — </a:t>
            </a:r>
            <a:r>
              <a:rPr b="0" i="0" lang="en" sz="800" u="none" cap="none" strike="noStrike">
                <a:solidFill>
                  <a:srgbClr val="B9C6E8"/>
                </a:solidFill>
                <a:latin typeface="Calibri"/>
                <a:ea typeface="Calibri"/>
                <a:cs typeface="Calibri"/>
                <a:sym typeface="Calibri"/>
              </a:rPr>
              <a:t>full multi-turn conversation history (JSON)</a:t>
            </a:r>
            <a:endParaRPr b="0" i="0" sz="800" u="none" cap="none" strike="noStrike">
              <a:solidFill>
                <a:schemeClr val="dk1"/>
              </a:solidFill>
              <a:latin typeface="Calibri"/>
              <a:ea typeface="Calibri"/>
              <a:cs typeface="Calibri"/>
              <a:sym typeface="Calibri"/>
            </a:endParaRPr>
          </a:p>
        </p:txBody>
      </p:sp>
      <p:sp>
        <p:nvSpPr>
          <p:cNvPr id="263" name="Google Shape;263;p18"/>
          <p:cNvSpPr/>
          <p:nvPr/>
        </p:nvSpPr>
        <p:spPr>
          <a:xfrm>
            <a:off x="617220" y="4834890"/>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98C2"/>
              </a:buClr>
              <a:buSzPts val="700"/>
              <a:buFont typeface="Calibri"/>
              <a:buNone/>
            </a:pPr>
            <a:r>
              <a:rPr b="1" i="0" lang="en" sz="700" u="none" cap="none" strike="noStrike">
                <a:solidFill>
                  <a:srgbClr val="8B98C2"/>
                </a:solidFill>
                <a:latin typeface="Calibri"/>
                <a:ea typeface="Calibri"/>
                <a:cs typeface="Calibri"/>
                <a:sym typeface="Calibri"/>
              </a:rPr>
              <a:t>AI SHOPPING ASSISTANT CHATBOT</a:t>
            </a:r>
            <a:endParaRPr b="0" i="0" sz="700" u="none" cap="none" strike="noStrike">
              <a:solidFill>
                <a:schemeClr val="dk1"/>
              </a:solidFill>
              <a:latin typeface="Calibri"/>
              <a:ea typeface="Calibri"/>
              <a:cs typeface="Calibri"/>
              <a:sym typeface="Calibri"/>
            </a:endParaRPr>
          </a:p>
        </p:txBody>
      </p:sp>
      <p:sp>
        <p:nvSpPr>
          <p:cNvPr id="264" name="Google Shape;264;p18"/>
          <p:cNvSpPr/>
          <p:nvPr/>
        </p:nvSpPr>
        <p:spPr>
          <a:xfrm>
            <a:off x="8524494" y="4834890"/>
            <a:ext cx="34290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B98C2"/>
              </a:buClr>
              <a:buSzPts val="800"/>
              <a:buFont typeface="Calibri"/>
              <a:buNone/>
            </a:pPr>
            <a:r>
              <a:rPr b="0" i="0" lang="en" sz="800" u="none" cap="none" strike="noStrike">
                <a:solidFill>
                  <a:srgbClr val="8B98C2"/>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pic>
        <p:nvPicPr>
          <p:cNvPr id="265" name="Google Shape;265;p18"/>
          <p:cNvPicPr preferRelativeResize="0"/>
          <p:nvPr/>
        </p:nvPicPr>
        <p:blipFill rotWithShape="1">
          <a:blip r:embed="rId3">
            <a:alphaModFix/>
          </a:blip>
          <a:srcRect b="0" l="0" r="0" t="0"/>
          <a:stretch/>
        </p:blipFill>
        <p:spPr>
          <a:xfrm>
            <a:off x="412025" y="1114363"/>
            <a:ext cx="5485299" cy="3655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270" name="Shape 270"/>
        <p:cNvGrpSpPr/>
        <p:nvPr/>
      </p:nvGrpSpPr>
      <p:grpSpPr>
        <a:xfrm>
          <a:off x="0" y="0"/>
          <a:ext cx="0" cy="0"/>
          <a:chOff x="0" y="0"/>
          <a:chExt cx="0" cy="0"/>
        </a:xfrm>
      </p:grpSpPr>
      <p:sp>
        <p:nvSpPr>
          <p:cNvPr id="271" name="Google Shape;271;p19"/>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9"/>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9"/>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9"/>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9"/>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9"/>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9"/>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9"/>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9"/>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9"/>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9"/>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9"/>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9"/>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9"/>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9"/>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9"/>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9"/>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9"/>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9"/>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9"/>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9"/>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9"/>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9"/>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9"/>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9"/>
          <p:cNvSpPr/>
          <p:nvPr/>
        </p:nvSpPr>
        <p:spPr>
          <a:xfrm>
            <a:off x="617220" y="342900"/>
            <a:ext cx="61722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000"/>
              <a:buFont typeface="Calibri"/>
              <a:buNone/>
            </a:pPr>
            <a:r>
              <a:rPr b="1" i="0" lang="en" sz="1000" u="none" cap="none" strike="noStrike">
                <a:solidFill>
                  <a:srgbClr val="2FD9C4"/>
                </a:solidFill>
                <a:latin typeface="Calibri"/>
                <a:ea typeface="Calibri"/>
                <a:cs typeface="Calibri"/>
                <a:sym typeface="Calibri"/>
              </a:rPr>
              <a:t>FUNCTION CALLING &amp; GROUNDING LOGIC</a:t>
            </a:r>
            <a:endParaRPr b="0" i="0" sz="1000" u="none" cap="none" strike="noStrike">
              <a:solidFill>
                <a:schemeClr val="dk1"/>
              </a:solidFill>
              <a:latin typeface="Calibri"/>
              <a:ea typeface="Calibri"/>
              <a:cs typeface="Calibri"/>
              <a:sym typeface="Calibri"/>
            </a:endParaRPr>
          </a:p>
        </p:txBody>
      </p:sp>
      <p:sp>
        <p:nvSpPr>
          <p:cNvPr id="296" name="Google Shape;296;p19"/>
          <p:cNvSpPr/>
          <p:nvPr/>
        </p:nvSpPr>
        <p:spPr>
          <a:xfrm>
            <a:off x="617220" y="58293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2300"/>
              <a:buFont typeface="Cambria"/>
              <a:buNone/>
            </a:pPr>
            <a:r>
              <a:rPr b="1" i="0" lang="en" sz="2300" u="none" cap="none" strike="noStrike">
                <a:solidFill>
                  <a:srgbClr val="EDF3FF"/>
                </a:solidFill>
                <a:latin typeface="Cambria"/>
                <a:ea typeface="Cambria"/>
                <a:cs typeface="Cambria"/>
                <a:sym typeface="Cambria"/>
              </a:rPr>
              <a:t>How the AI Works</a:t>
            </a:r>
            <a:endParaRPr b="0" i="0" sz="2300" u="none" cap="none" strike="noStrike">
              <a:solidFill>
                <a:schemeClr val="dk1"/>
              </a:solidFill>
              <a:latin typeface="Calibri"/>
              <a:ea typeface="Calibri"/>
              <a:cs typeface="Calibri"/>
              <a:sym typeface="Calibri"/>
            </a:endParaRPr>
          </a:p>
        </p:txBody>
      </p:sp>
      <p:sp>
        <p:nvSpPr>
          <p:cNvPr id="297" name="Google Shape;297;p19"/>
          <p:cNvSpPr/>
          <p:nvPr/>
        </p:nvSpPr>
        <p:spPr>
          <a:xfrm>
            <a:off x="617220" y="1371600"/>
            <a:ext cx="1837944" cy="1988820"/>
          </a:xfrm>
          <a:prstGeom prst="roundRect">
            <a:avLst>
              <a:gd fmla="val 298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9"/>
          <p:cNvSpPr/>
          <p:nvPr/>
        </p:nvSpPr>
        <p:spPr>
          <a:xfrm>
            <a:off x="1940814"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01</a:t>
            </a:r>
            <a:endParaRPr b="0" i="0" sz="1100" u="none" cap="none" strike="noStrike">
              <a:solidFill>
                <a:schemeClr val="dk1"/>
              </a:solidFill>
              <a:latin typeface="Calibri"/>
              <a:ea typeface="Calibri"/>
              <a:cs typeface="Calibri"/>
              <a:sym typeface="Calibri"/>
            </a:endParaRPr>
          </a:p>
        </p:txBody>
      </p:sp>
      <p:sp>
        <p:nvSpPr>
          <p:cNvPr id="299" name="Google Shape;299;p19"/>
          <p:cNvSpPr/>
          <p:nvPr/>
        </p:nvSpPr>
        <p:spPr>
          <a:xfrm>
            <a:off x="788670"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9"/>
          <p:cNvSpPr/>
          <p:nvPr/>
        </p:nvSpPr>
        <p:spPr>
          <a:xfrm>
            <a:off x="788670"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01" name="Google Shape;301;p19"/>
          <p:cNvSpPr/>
          <p:nvPr/>
        </p:nvSpPr>
        <p:spPr>
          <a:xfrm>
            <a:off x="788670" y="2091690"/>
            <a:ext cx="149504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User Asks</a:t>
            </a:r>
            <a:endParaRPr b="0" i="0" sz="1000" u="none" cap="none" strike="noStrike">
              <a:solidFill>
                <a:schemeClr val="dk1"/>
              </a:solidFill>
              <a:latin typeface="Calibri"/>
              <a:ea typeface="Calibri"/>
              <a:cs typeface="Calibri"/>
              <a:sym typeface="Calibri"/>
            </a:endParaRPr>
          </a:p>
        </p:txBody>
      </p:sp>
      <p:sp>
        <p:nvSpPr>
          <p:cNvPr id="302" name="Google Shape;302;p19"/>
          <p:cNvSpPr/>
          <p:nvPr/>
        </p:nvSpPr>
        <p:spPr>
          <a:xfrm>
            <a:off x="788670" y="2386584"/>
            <a:ext cx="1495044"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“Compare the two best wireless headphones under $100.”</a:t>
            </a:r>
            <a:endParaRPr b="0" i="0" sz="800" u="none" cap="none" strike="noStrike">
              <a:solidFill>
                <a:schemeClr val="dk1"/>
              </a:solidFill>
              <a:latin typeface="Calibri"/>
              <a:ea typeface="Calibri"/>
              <a:cs typeface="Calibri"/>
              <a:sym typeface="Calibri"/>
            </a:endParaRPr>
          </a:p>
        </p:txBody>
      </p:sp>
      <p:sp>
        <p:nvSpPr>
          <p:cNvPr id="303" name="Google Shape;303;p19"/>
          <p:cNvSpPr/>
          <p:nvPr/>
        </p:nvSpPr>
        <p:spPr>
          <a:xfrm>
            <a:off x="2482596" y="2269998"/>
            <a:ext cx="137160"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04" name="Google Shape;304;p19"/>
          <p:cNvSpPr/>
          <p:nvPr/>
        </p:nvSpPr>
        <p:spPr>
          <a:xfrm>
            <a:off x="2647188" y="1371600"/>
            <a:ext cx="1837944" cy="1988820"/>
          </a:xfrm>
          <a:prstGeom prst="roundRect">
            <a:avLst>
              <a:gd fmla="val 298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9"/>
          <p:cNvSpPr/>
          <p:nvPr/>
        </p:nvSpPr>
        <p:spPr>
          <a:xfrm>
            <a:off x="3970782"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02</a:t>
            </a:r>
            <a:endParaRPr b="0" i="0" sz="1100" u="none" cap="none" strike="noStrike">
              <a:solidFill>
                <a:schemeClr val="dk1"/>
              </a:solidFill>
              <a:latin typeface="Calibri"/>
              <a:ea typeface="Calibri"/>
              <a:cs typeface="Calibri"/>
              <a:sym typeface="Calibri"/>
            </a:endParaRPr>
          </a:p>
        </p:txBody>
      </p:sp>
      <p:sp>
        <p:nvSpPr>
          <p:cNvPr id="306" name="Google Shape;306;p19"/>
          <p:cNvSpPr/>
          <p:nvPr/>
        </p:nvSpPr>
        <p:spPr>
          <a:xfrm>
            <a:off x="2818638"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9"/>
          <p:cNvSpPr/>
          <p:nvPr/>
        </p:nvSpPr>
        <p:spPr>
          <a:xfrm>
            <a:off x="2818638"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08" name="Google Shape;308;p19"/>
          <p:cNvSpPr/>
          <p:nvPr/>
        </p:nvSpPr>
        <p:spPr>
          <a:xfrm>
            <a:off x="2818638" y="2091690"/>
            <a:ext cx="149504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Model Selects a Tool</a:t>
            </a:r>
            <a:endParaRPr b="0" i="0" sz="1000" u="none" cap="none" strike="noStrike">
              <a:solidFill>
                <a:schemeClr val="dk1"/>
              </a:solidFill>
              <a:latin typeface="Calibri"/>
              <a:ea typeface="Calibri"/>
              <a:cs typeface="Calibri"/>
              <a:sym typeface="Calibri"/>
            </a:endParaRPr>
          </a:p>
        </p:txBody>
      </p:sp>
      <p:sp>
        <p:nvSpPr>
          <p:cNvPr id="309" name="Google Shape;309;p19"/>
          <p:cNvSpPr/>
          <p:nvPr/>
        </p:nvSpPr>
        <p:spPr>
          <a:xfrm>
            <a:off x="2818638" y="2386584"/>
            <a:ext cx="1495044"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OpenAI function calling picks search_catalog / compare_products / get_product_specs.</a:t>
            </a:r>
            <a:endParaRPr b="0" i="0" sz="800" u="none" cap="none" strike="noStrike">
              <a:solidFill>
                <a:schemeClr val="dk1"/>
              </a:solidFill>
              <a:latin typeface="Calibri"/>
              <a:ea typeface="Calibri"/>
              <a:cs typeface="Calibri"/>
              <a:sym typeface="Calibri"/>
            </a:endParaRPr>
          </a:p>
        </p:txBody>
      </p:sp>
      <p:sp>
        <p:nvSpPr>
          <p:cNvPr id="310" name="Google Shape;310;p19"/>
          <p:cNvSpPr/>
          <p:nvPr/>
        </p:nvSpPr>
        <p:spPr>
          <a:xfrm>
            <a:off x="4512564" y="2269998"/>
            <a:ext cx="137160"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11" name="Google Shape;311;p19"/>
          <p:cNvSpPr/>
          <p:nvPr/>
        </p:nvSpPr>
        <p:spPr>
          <a:xfrm>
            <a:off x="4677156" y="1371600"/>
            <a:ext cx="1837944" cy="1988820"/>
          </a:xfrm>
          <a:prstGeom prst="roundRect">
            <a:avLst>
              <a:gd fmla="val 298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9"/>
          <p:cNvSpPr/>
          <p:nvPr/>
        </p:nvSpPr>
        <p:spPr>
          <a:xfrm>
            <a:off x="6000750"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03</a:t>
            </a:r>
            <a:endParaRPr b="0" i="0" sz="1100" u="none" cap="none" strike="noStrike">
              <a:solidFill>
                <a:schemeClr val="dk1"/>
              </a:solidFill>
              <a:latin typeface="Calibri"/>
              <a:ea typeface="Calibri"/>
              <a:cs typeface="Calibri"/>
              <a:sym typeface="Calibri"/>
            </a:endParaRPr>
          </a:p>
        </p:txBody>
      </p:sp>
      <p:sp>
        <p:nvSpPr>
          <p:cNvPr id="313" name="Google Shape;313;p19"/>
          <p:cNvSpPr/>
          <p:nvPr/>
        </p:nvSpPr>
        <p:spPr>
          <a:xfrm>
            <a:off x="4848606"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9"/>
          <p:cNvSpPr/>
          <p:nvPr/>
        </p:nvSpPr>
        <p:spPr>
          <a:xfrm>
            <a:off x="4848606"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15" name="Google Shape;315;p19"/>
          <p:cNvSpPr/>
          <p:nvPr/>
        </p:nvSpPr>
        <p:spPr>
          <a:xfrm>
            <a:off x="4848606" y="2091690"/>
            <a:ext cx="149504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Tool Queries Live DB</a:t>
            </a:r>
            <a:endParaRPr b="0" i="0" sz="1000" u="none" cap="none" strike="noStrike">
              <a:solidFill>
                <a:schemeClr val="dk1"/>
              </a:solidFill>
              <a:latin typeface="Calibri"/>
              <a:ea typeface="Calibri"/>
              <a:cs typeface="Calibri"/>
              <a:sym typeface="Calibri"/>
            </a:endParaRPr>
          </a:p>
        </p:txBody>
      </p:sp>
      <p:sp>
        <p:nvSpPr>
          <p:cNvPr id="316" name="Google Shape;316;p19"/>
          <p:cNvSpPr/>
          <p:nvPr/>
        </p:nvSpPr>
        <p:spPr>
          <a:xfrm>
            <a:off x="4848606" y="2386584"/>
            <a:ext cx="1495044"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FastAPI executes the call against SQLAlchemy — real rows, real prices.</a:t>
            </a:r>
            <a:endParaRPr b="0" i="0" sz="800" u="none" cap="none" strike="noStrike">
              <a:solidFill>
                <a:schemeClr val="dk1"/>
              </a:solidFill>
              <a:latin typeface="Calibri"/>
              <a:ea typeface="Calibri"/>
              <a:cs typeface="Calibri"/>
              <a:sym typeface="Calibri"/>
            </a:endParaRPr>
          </a:p>
        </p:txBody>
      </p:sp>
      <p:sp>
        <p:nvSpPr>
          <p:cNvPr id="317" name="Google Shape;317;p19"/>
          <p:cNvSpPr/>
          <p:nvPr/>
        </p:nvSpPr>
        <p:spPr>
          <a:xfrm>
            <a:off x="6542532" y="2269998"/>
            <a:ext cx="137160"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18" name="Google Shape;318;p19"/>
          <p:cNvSpPr/>
          <p:nvPr/>
        </p:nvSpPr>
        <p:spPr>
          <a:xfrm>
            <a:off x="6707124" y="1371600"/>
            <a:ext cx="1837944" cy="1988820"/>
          </a:xfrm>
          <a:prstGeom prst="roundRect">
            <a:avLst>
              <a:gd fmla="val 2985"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9"/>
          <p:cNvSpPr/>
          <p:nvPr/>
        </p:nvSpPr>
        <p:spPr>
          <a:xfrm>
            <a:off x="8030718"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04</a:t>
            </a:r>
            <a:endParaRPr b="0" i="0" sz="1100" u="none" cap="none" strike="noStrike">
              <a:solidFill>
                <a:schemeClr val="dk1"/>
              </a:solidFill>
              <a:latin typeface="Calibri"/>
              <a:ea typeface="Calibri"/>
              <a:cs typeface="Calibri"/>
              <a:sym typeface="Calibri"/>
            </a:endParaRPr>
          </a:p>
        </p:txBody>
      </p:sp>
      <p:sp>
        <p:nvSpPr>
          <p:cNvPr id="320" name="Google Shape;320;p19"/>
          <p:cNvSpPr/>
          <p:nvPr/>
        </p:nvSpPr>
        <p:spPr>
          <a:xfrm>
            <a:off x="6878574"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9"/>
          <p:cNvSpPr/>
          <p:nvPr/>
        </p:nvSpPr>
        <p:spPr>
          <a:xfrm>
            <a:off x="6878574"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22" name="Google Shape;322;p19"/>
          <p:cNvSpPr/>
          <p:nvPr/>
        </p:nvSpPr>
        <p:spPr>
          <a:xfrm>
            <a:off x="6878574" y="2091690"/>
            <a:ext cx="149504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Answer Is Grounded</a:t>
            </a:r>
            <a:endParaRPr b="0" i="0" sz="1000" u="none" cap="none" strike="noStrike">
              <a:solidFill>
                <a:schemeClr val="dk1"/>
              </a:solidFill>
              <a:latin typeface="Calibri"/>
              <a:ea typeface="Calibri"/>
              <a:cs typeface="Calibri"/>
              <a:sym typeface="Calibri"/>
            </a:endParaRPr>
          </a:p>
        </p:txBody>
      </p:sp>
      <p:sp>
        <p:nvSpPr>
          <p:cNvPr id="323" name="Google Shape;323;p19"/>
          <p:cNvSpPr/>
          <p:nvPr/>
        </p:nvSpPr>
        <p:spPr>
          <a:xfrm>
            <a:off x="6878574" y="2386584"/>
            <a:ext cx="1495044"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The model replies using only the returned data — nothing fabricated.</a:t>
            </a:r>
            <a:endParaRPr b="0" i="0" sz="800" u="none" cap="none" strike="noStrike">
              <a:solidFill>
                <a:schemeClr val="dk1"/>
              </a:solidFill>
              <a:latin typeface="Calibri"/>
              <a:ea typeface="Calibri"/>
              <a:cs typeface="Calibri"/>
              <a:sym typeface="Calibri"/>
            </a:endParaRPr>
          </a:p>
        </p:txBody>
      </p:sp>
      <p:sp>
        <p:nvSpPr>
          <p:cNvPr id="324" name="Google Shape;324;p19"/>
          <p:cNvSpPr/>
          <p:nvPr/>
        </p:nvSpPr>
        <p:spPr>
          <a:xfrm>
            <a:off x="617220" y="3669030"/>
            <a:ext cx="7886700" cy="685800"/>
          </a:xfrm>
          <a:prstGeom prst="roundRect">
            <a:avLst>
              <a:gd fmla="val 8000" name="adj"/>
            </a:avLst>
          </a:prstGeom>
          <a:solidFill>
            <a:srgbClr val="24345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9"/>
          <p:cNvSpPr/>
          <p:nvPr/>
        </p:nvSpPr>
        <p:spPr>
          <a:xfrm>
            <a:off x="788670" y="3840480"/>
            <a:ext cx="342900" cy="34290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9"/>
          <p:cNvSpPr/>
          <p:nvPr/>
        </p:nvSpPr>
        <p:spPr>
          <a:xfrm>
            <a:off x="788670" y="3840480"/>
            <a:ext cx="342900"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Calibri"/>
              <a:buNone/>
            </a:pPr>
            <a:r>
              <a:rPr b="0" i="0" lang="en" sz="1100" u="none" cap="none" strike="noStrike">
                <a:solidFill>
                  <a:srgbClr val="00000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327" name="Google Shape;327;p19"/>
          <p:cNvSpPr/>
          <p:nvPr/>
        </p:nvSpPr>
        <p:spPr>
          <a:xfrm>
            <a:off x="1268730" y="3737610"/>
            <a:ext cx="70637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2FD9C4"/>
              </a:buClr>
              <a:buSzPts val="800"/>
              <a:buFont typeface="Calibri"/>
              <a:buNone/>
            </a:pPr>
            <a:r>
              <a:rPr b="1" i="0" lang="en" sz="800" u="none" cap="none" strike="noStrike">
                <a:solidFill>
                  <a:srgbClr val="2FD9C4"/>
                </a:solidFill>
                <a:latin typeface="Calibri"/>
                <a:ea typeface="Calibri"/>
                <a:cs typeface="Calibri"/>
                <a:sym typeface="Calibri"/>
              </a:rPr>
              <a:t>Grounding Principle:  </a:t>
            </a:r>
            <a:r>
              <a:rPr b="0" i="0" lang="en" sz="800" u="none" cap="none" strike="noStrike">
                <a:solidFill>
                  <a:srgbClr val="B9C6E8"/>
                </a:solidFill>
                <a:latin typeface="Calibri"/>
                <a:ea typeface="Calibri"/>
                <a:cs typeface="Calibri"/>
                <a:sym typeface="Calibri"/>
              </a:rPr>
              <a:t>The model never answers from its own memory of products. Every specification, price, or comparison is fetched from SQLite at the moment of the question — multi-turn memory keeps the conversation coherent without ever letting the model “guess.”</a:t>
            </a:r>
            <a:endParaRPr b="0" i="0" sz="800" u="none" cap="none" strike="noStrike">
              <a:solidFill>
                <a:schemeClr val="dk1"/>
              </a:solidFill>
              <a:latin typeface="Calibri"/>
              <a:ea typeface="Calibri"/>
              <a:cs typeface="Calibri"/>
              <a:sym typeface="Calibri"/>
            </a:endParaRPr>
          </a:p>
        </p:txBody>
      </p:sp>
      <p:sp>
        <p:nvSpPr>
          <p:cNvPr id="328" name="Google Shape;328;p19"/>
          <p:cNvSpPr/>
          <p:nvPr/>
        </p:nvSpPr>
        <p:spPr>
          <a:xfrm>
            <a:off x="617220" y="4834890"/>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98C2"/>
              </a:buClr>
              <a:buSzPts val="700"/>
              <a:buFont typeface="Calibri"/>
              <a:buNone/>
            </a:pPr>
            <a:r>
              <a:rPr b="1" i="0" lang="en" sz="700" u="none" cap="none" strike="noStrike">
                <a:solidFill>
                  <a:srgbClr val="8B98C2"/>
                </a:solidFill>
                <a:latin typeface="Calibri"/>
                <a:ea typeface="Calibri"/>
                <a:cs typeface="Calibri"/>
                <a:sym typeface="Calibri"/>
              </a:rPr>
              <a:t>AI SHOPPING ASSISTANT CHATBOT</a:t>
            </a:r>
            <a:endParaRPr b="0" i="0" sz="700" u="none" cap="none" strike="noStrike">
              <a:solidFill>
                <a:schemeClr val="dk1"/>
              </a:solidFill>
              <a:latin typeface="Calibri"/>
              <a:ea typeface="Calibri"/>
              <a:cs typeface="Calibri"/>
              <a:sym typeface="Calibri"/>
            </a:endParaRPr>
          </a:p>
        </p:txBody>
      </p:sp>
      <p:sp>
        <p:nvSpPr>
          <p:cNvPr id="329" name="Google Shape;329;p19"/>
          <p:cNvSpPr/>
          <p:nvPr/>
        </p:nvSpPr>
        <p:spPr>
          <a:xfrm>
            <a:off x="8524494" y="4834890"/>
            <a:ext cx="34290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B98C2"/>
              </a:buClr>
              <a:buSzPts val="800"/>
              <a:buFont typeface="Calibri"/>
              <a:buNone/>
            </a:pPr>
            <a:r>
              <a:rPr b="0" i="0" lang="en" sz="800" u="none" cap="none" strike="noStrike">
                <a:solidFill>
                  <a:srgbClr val="8B98C2"/>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334" name="Shape 334"/>
        <p:cNvGrpSpPr/>
        <p:nvPr/>
      </p:nvGrpSpPr>
      <p:grpSpPr>
        <a:xfrm>
          <a:off x="0" y="0"/>
          <a:ext cx="0" cy="0"/>
          <a:chOff x="0" y="0"/>
          <a:chExt cx="0" cy="0"/>
        </a:xfrm>
      </p:grpSpPr>
      <p:sp>
        <p:nvSpPr>
          <p:cNvPr id="335" name="Google Shape;335;p20"/>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0"/>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0"/>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0"/>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0"/>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0"/>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0"/>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0"/>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0"/>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0"/>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0"/>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0"/>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0"/>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0"/>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0"/>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0"/>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0"/>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0"/>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0"/>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0"/>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0"/>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0"/>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0"/>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0"/>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0"/>
          <p:cNvSpPr/>
          <p:nvPr/>
        </p:nvSpPr>
        <p:spPr>
          <a:xfrm>
            <a:off x="617220" y="342900"/>
            <a:ext cx="61722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000"/>
              <a:buFont typeface="Calibri"/>
              <a:buNone/>
            </a:pPr>
            <a:r>
              <a:rPr b="1" i="0" lang="en" sz="1000" u="none" cap="none" strike="noStrike">
                <a:solidFill>
                  <a:srgbClr val="2FD9C4"/>
                </a:solidFill>
                <a:latin typeface="Calibri"/>
                <a:ea typeface="Calibri"/>
                <a:cs typeface="Calibri"/>
                <a:sym typeface="Calibri"/>
              </a:rPr>
              <a:t>BROWSING, RECOMMENDATIONS &amp; CHECKOUT</a:t>
            </a:r>
            <a:endParaRPr b="0" i="0" sz="1000" u="none" cap="none" strike="noStrike">
              <a:solidFill>
                <a:schemeClr val="dk1"/>
              </a:solidFill>
              <a:latin typeface="Calibri"/>
              <a:ea typeface="Calibri"/>
              <a:cs typeface="Calibri"/>
              <a:sym typeface="Calibri"/>
            </a:endParaRPr>
          </a:p>
        </p:txBody>
      </p:sp>
      <p:sp>
        <p:nvSpPr>
          <p:cNvPr id="360" name="Google Shape;360;p20"/>
          <p:cNvSpPr/>
          <p:nvPr/>
        </p:nvSpPr>
        <p:spPr>
          <a:xfrm>
            <a:off x="617220" y="58293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2300"/>
              <a:buFont typeface="Cambria"/>
              <a:buNone/>
            </a:pPr>
            <a:r>
              <a:rPr b="1" i="0" lang="en" sz="2300" u="none" cap="none" strike="noStrike">
                <a:solidFill>
                  <a:srgbClr val="EDF3FF"/>
                </a:solidFill>
                <a:latin typeface="Cambria"/>
                <a:ea typeface="Cambria"/>
                <a:cs typeface="Cambria"/>
                <a:sym typeface="Cambria"/>
              </a:rPr>
              <a:t>Personalization &amp; User Flow</a:t>
            </a:r>
            <a:endParaRPr b="0" i="0" sz="2300" u="none" cap="none" strike="noStrike">
              <a:solidFill>
                <a:schemeClr val="dk1"/>
              </a:solidFill>
              <a:latin typeface="Calibri"/>
              <a:ea typeface="Calibri"/>
              <a:cs typeface="Calibri"/>
              <a:sym typeface="Calibri"/>
            </a:endParaRPr>
          </a:p>
        </p:txBody>
      </p:sp>
      <p:sp>
        <p:nvSpPr>
          <p:cNvPr id="361" name="Google Shape;361;p20"/>
          <p:cNvSpPr/>
          <p:nvPr/>
        </p:nvSpPr>
        <p:spPr>
          <a:xfrm>
            <a:off x="617220" y="1371600"/>
            <a:ext cx="1440180" cy="198882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0"/>
          <p:cNvSpPr/>
          <p:nvPr/>
        </p:nvSpPr>
        <p:spPr>
          <a:xfrm>
            <a:off x="1543050"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1</a:t>
            </a:r>
            <a:endParaRPr b="0" i="0" sz="1100" u="none" cap="none" strike="noStrike">
              <a:solidFill>
                <a:schemeClr val="dk1"/>
              </a:solidFill>
              <a:latin typeface="Calibri"/>
              <a:ea typeface="Calibri"/>
              <a:cs typeface="Calibri"/>
              <a:sym typeface="Calibri"/>
            </a:endParaRPr>
          </a:p>
        </p:txBody>
      </p:sp>
      <p:sp>
        <p:nvSpPr>
          <p:cNvPr id="363" name="Google Shape;363;p20"/>
          <p:cNvSpPr/>
          <p:nvPr/>
        </p:nvSpPr>
        <p:spPr>
          <a:xfrm>
            <a:off x="788670"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0"/>
          <p:cNvSpPr/>
          <p:nvPr/>
        </p:nvSpPr>
        <p:spPr>
          <a:xfrm>
            <a:off x="788670"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65" name="Google Shape;365;p20"/>
          <p:cNvSpPr/>
          <p:nvPr/>
        </p:nvSpPr>
        <p:spPr>
          <a:xfrm>
            <a:off x="788670" y="2091690"/>
            <a:ext cx="109728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Sign In</a:t>
            </a:r>
            <a:endParaRPr b="0" i="0" sz="1000" u="none" cap="none" strike="noStrike">
              <a:solidFill>
                <a:schemeClr val="dk1"/>
              </a:solidFill>
              <a:latin typeface="Calibri"/>
              <a:ea typeface="Calibri"/>
              <a:cs typeface="Calibri"/>
              <a:sym typeface="Calibri"/>
            </a:endParaRPr>
          </a:p>
        </p:txBody>
      </p:sp>
      <p:sp>
        <p:nvSpPr>
          <p:cNvPr id="366" name="Google Shape;366;p20"/>
          <p:cNvSpPr/>
          <p:nvPr/>
        </p:nvSpPr>
        <p:spPr>
          <a:xfrm>
            <a:off x="788670" y="2386584"/>
            <a:ext cx="1097280"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User authenticates; profile &amp; history load.</a:t>
            </a:r>
            <a:endParaRPr b="0" i="0" sz="800" u="none" cap="none" strike="noStrike">
              <a:solidFill>
                <a:schemeClr val="dk1"/>
              </a:solidFill>
              <a:latin typeface="Calibri"/>
              <a:ea typeface="Calibri"/>
              <a:cs typeface="Calibri"/>
              <a:sym typeface="Calibri"/>
            </a:endParaRPr>
          </a:p>
        </p:txBody>
      </p:sp>
      <p:sp>
        <p:nvSpPr>
          <p:cNvPr id="367" name="Google Shape;367;p20"/>
          <p:cNvSpPr/>
          <p:nvPr/>
        </p:nvSpPr>
        <p:spPr>
          <a:xfrm>
            <a:off x="2084832" y="2269998"/>
            <a:ext cx="82296"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68" name="Google Shape;368;p20"/>
          <p:cNvSpPr/>
          <p:nvPr/>
        </p:nvSpPr>
        <p:spPr>
          <a:xfrm>
            <a:off x="2194560" y="1371600"/>
            <a:ext cx="1440180" cy="198882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0"/>
          <p:cNvSpPr/>
          <p:nvPr/>
        </p:nvSpPr>
        <p:spPr>
          <a:xfrm>
            <a:off x="3120390"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2</a:t>
            </a:r>
            <a:endParaRPr b="0" i="0" sz="1100" u="none" cap="none" strike="noStrike">
              <a:solidFill>
                <a:schemeClr val="dk1"/>
              </a:solidFill>
              <a:latin typeface="Calibri"/>
              <a:ea typeface="Calibri"/>
              <a:cs typeface="Calibri"/>
              <a:sym typeface="Calibri"/>
            </a:endParaRPr>
          </a:p>
        </p:txBody>
      </p:sp>
      <p:sp>
        <p:nvSpPr>
          <p:cNvPr id="370" name="Google Shape;370;p20"/>
          <p:cNvSpPr/>
          <p:nvPr/>
        </p:nvSpPr>
        <p:spPr>
          <a:xfrm>
            <a:off x="2366010"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0"/>
          <p:cNvSpPr/>
          <p:nvPr/>
        </p:nvSpPr>
        <p:spPr>
          <a:xfrm>
            <a:off x="2366010"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72" name="Google Shape;372;p20"/>
          <p:cNvSpPr/>
          <p:nvPr/>
        </p:nvSpPr>
        <p:spPr>
          <a:xfrm>
            <a:off x="2366010" y="2091690"/>
            <a:ext cx="109728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Browse &amp; Chat</a:t>
            </a:r>
            <a:endParaRPr b="0" i="0" sz="1000" u="none" cap="none" strike="noStrike">
              <a:solidFill>
                <a:schemeClr val="dk1"/>
              </a:solidFill>
              <a:latin typeface="Calibri"/>
              <a:ea typeface="Calibri"/>
              <a:cs typeface="Calibri"/>
              <a:sym typeface="Calibri"/>
            </a:endParaRPr>
          </a:p>
        </p:txBody>
      </p:sp>
      <p:sp>
        <p:nvSpPr>
          <p:cNvPr id="373" name="Google Shape;373;p20"/>
          <p:cNvSpPr/>
          <p:nvPr/>
        </p:nvSpPr>
        <p:spPr>
          <a:xfrm>
            <a:off x="2366010" y="2386584"/>
            <a:ext cx="1097280"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Activity and AI questions are tracked live.</a:t>
            </a:r>
            <a:endParaRPr b="0" i="0" sz="800" u="none" cap="none" strike="noStrike">
              <a:solidFill>
                <a:schemeClr val="dk1"/>
              </a:solidFill>
              <a:latin typeface="Calibri"/>
              <a:ea typeface="Calibri"/>
              <a:cs typeface="Calibri"/>
              <a:sym typeface="Calibri"/>
            </a:endParaRPr>
          </a:p>
        </p:txBody>
      </p:sp>
      <p:sp>
        <p:nvSpPr>
          <p:cNvPr id="374" name="Google Shape;374;p20"/>
          <p:cNvSpPr/>
          <p:nvPr/>
        </p:nvSpPr>
        <p:spPr>
          <a:xfrm>
            <a:off x="3662172" y="2269998"/>
            <a:ext cx="82296"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75" name="Google Shape;375;p20"/>
          <p:cNvSpPr/>
          <p:nvPr/>
        </p:nvSpPr>
        <p:spPr>
          <a:xfrm>
            <a:off x="3771900" y="1371600"/>
            <a:ext cx="1440180" cy="198882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20"/>
          <p:cNvSpPr/>
          <p:nvPr/>
        </p:nvSpPr>
        <p:spPr>
          <a:xfrm>
            <a:off x="4697730"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3</a:t>
            </a:r>
            <a:endParaRPr b="0" i="0" sz="1100" u="none" cap="none" strike="noStrike">
              <a:solidFill>
                <a:schemeClr val="dk1"/>
              </a:solidFill>
              <a:latin typeface="Calibri"/>
              <a:ea typeface="Calibri"/>
              <a:cs typeface="Calibri"/>
              <a:sym typeface="Calibri"/>
            </a:endParaRPr>
          </a:p>
        </p:txBody>
      </p:sp>
      <p:sp>
        <p:nvSpPr>
          <p:cNvPr id="377" name="Google Shape;377;p20"/>
          <p:cNvSpPr/>
          <p:nvPr/>
        </p:nvSpPr>
        <p:spPr>
          <a:xfrm>
            <a:off x="3943350"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0"/>
          <p:cNvSpPr/>
          <p:nvPr/>
        </p:nvSpPr>
        <p:spPr>
          <a:xfrm>
            <a:off x="3943350"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79" name="Google Shape;379;p20"/>
          <p:cNvSpPr/>
          <p:nvPr/>
        </p:nvSpPr>
        <p:spPr>
          <a:xfrm>
            <a:off x="3943350" y="2091690"/>
            <a:ext cx="109728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Get Recommended</a:t>
            </a:r>
            <a:endParaRPr b="0" i="0" sz="1000" u="none" cap="none" strike="noStrike">
              <a:solidFill>
                <a:schemeClr val="dk1"/>
              </a:solidFill>
              <a:latin typeface="Calibri"/>
              <a:ea typeface="Calibri"/>
              <a:cs typeface="Calibri"/>
              <a:sym typeface="Calibri"/>
            </a:endParaRPr>
          </a:p>
        </p:txBody>
      </p:sp>
      <p:sp>
        <p:nvSpPr>
          <p:cNvPr id="380" name="Google Shape;380;p20"/>
          <p:cNvSpPr/>
          <p:nvPr/>
        </p:nvSpPr>
        <p:spPr>
          <a:xfrm>
            <a:off x="3943350" y="2386584"/>
            <a:ext cx="1097280"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Engine blends browsing + purchase history.</a:t>
            </a:r>
            <a:endParaRPr b="0" i="0" sz="800" u="none" cap="none" strike="noStrike">
              <a:solidFill>
                <a:schemeClr val="dk1"/>
              </a:solidFill>
              <a:latin typeface="Calibri"/>
              <a:ea typeface="Calibri"/>
              <a:cs typeface="Calibri"/>
              <a:sym typeface="Calibri"/>
            </a:endParaRPr>
          </a:p>
        </p:txBody>
      </p:sp>
      <p:sp>
        <p:nvSpPr>
          <p:cNvPr id="381" name="Google Shape;381;p20"/>
          <p:cNvSpPr/>
          <p:nvPr/>
        </p:nvSpPr>
        <p:spPr>
          <a:xfrm>
            <a:off x="5239512" y="2269998"/>
            <a:ext cx="82296"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82" name="Google Shape;382;p20"/>
          <p:cNvSpPr/>
          <p:nvPr/>
        </p:nvSpPr>
        <p:spPr>
          <a:xfrm>
            <a:off x="5349240" y="1371600"/>
            <a:ext cx="1440180" cy="198882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0"/>
          <p:cNvSpPr/>
          <p:nvPr/>
        </p:nvSpPr>
        <p:spPr>
          <a:xfrm>
            <a:off x="6275070"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4</a:t>
            </a:r>
            <a:endParaRPr b="0" i="0" sz="1100" u="none" cap="none" strike="noStrike">
              <a:solidFill>
                <a:schemeClr val="dk1"/>
              </a:solidFill>
              <a:latin typeface="Calibri"/>
              <a:ea typeface="Calibri"/>
              <a:cs typeface="Calibri"/>
              <a:sym typeface="Calibri"/>
            </a:endParaRPr>
          </a:p>
        </p:txBody>
      </p:sp>
      <p:sp>
        <p:nvSpPr>
          <p:cNvPr id="384" name="Google Shape;384;p20"/>
          <p:cNvSpPr/>
          <p:nvPr/>
        </p:nvSpPr>
        <p:spPr>
          <a:xfrm>
            <a:off x="5520690"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0"/>
          <p:cNvSpPr/>
          <p:nvPr/>
        </p:nvSpPr>
        <p:spPr>
          <a:xfrm>
            <a:off x="5520690"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86" name="Google Shape;386;p20"/>
          <p:cNvSpPr/>
          <p:nvPr/>
        </p:nvSpPr>
        <p:spPr>
          <a:xfrm>
            <a:off x="5520690" y="2091690"/>
            <a:ext cx="109728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Add to Cart</a:t>
            </a:r>
            <a:endParaRPr b="0" i="0" sz="1000" u="none" cap="none" strike="noStrike">
              <a:solidFill>
                <a:schemeClr val="dk1"/>
              </a:solidFill>
              <a:latin typeface="Calibri"/>
              <a:ea typeface="Calibri"/>
              <a:cs typeface="Calibri"/>
              <a:sym typeface="Calibri"/>
            </a:endParaRPr>
          </a:p>
        </p:txBody>
      </p:sp>
      <p:sp>
        <p:nvSpPr>
          <p:cNvPr id="387" name="Google Shape;387;p20"/>
          <p:cNvSpPr/>
          <p:nvPr/>
        </p:nvSpPr>
        <p:spPr>
          <a:xfrm>
            <a:off x="5520690" y="2386584"/>
            <a:ext cx="1097280"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Chosen products move into the cart.</a:t>
            </a:r>
            <a:endParaRPr b="0" i="0" sz="800" u="none" cap="none" strike="noStrike">
              <a:solidFill>
                <a:schemeClr val="dk1"/>
              </a:solidFill>
              <a:latin typeface="Calibri"/>
              <a:ea typeface="Calibri"/>
              <a:cs typeface="Calibri"/>
              <a:sym typeface="Calibri"/>
            </a:endParaRPr>
          </a:p>
        </p:txBody>
      </p:sp>
      <p:sp>
        <p:nvSpPr>
          <p:cNvPr id="388" name="Google Shape;388;p20"/>
          <p:cNvSpPr/>
          <p:nvPr/>
        </p:nvSpPr>
        <p:spPr>
          <a:xfrm>
            <a:off x="6816852" y="2269998"/>
            <a:ext cx="82296"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200"/>
              <a:buFont typeface="Calibri"/>
              <a:buNone/>
            </a:pPr>
            <a:r>
              <a:rPr b="1" i="0" lang="en" sz="1200" u="none" cap="none" strike="noStrike">
                <a:solidFill>
                  <a:srgbClr val="2FD9C4"/>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89" name="Google Shape;389;p20"/>
          <p:cNvSpPr/>
          <p:nvPr/>
        </p:nvSpPr>
        <p:spPr>
          <a:xfrm>
            <a:off x="6926580" y="1371600"/>
            <a:ext cx="1440180" cy="198882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0"/>
          <p:cNvSpPr/>
          <p:nvPr/>
        </p:nvSpPr>
        <p:spPr>
          <a:xfrm>
            <a:off x="7852410" y="1453896"/>
            <a:ext cx="411480" cy="24003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A6BA8"/>
              </a:buClr>
              <a:buSzPts val="1100"/>
              <a:buFont typeface="Cambria"/>
              <a:buNone/>
            </a:pPr>
            <a:r>
              <a:rPr b="1" i="0" lang="en" sz="1100" u="none" cap="none" strike="noStrike">
                <a:solidFill>
                  <a:srgbClr val="5A6BA8"/>
                </a:solidFill>
                <a:latin typeface="Cambria"/>
                <a:ea typeface="Cambria"/>
                <a:cs typeface="Cambria"/>
                <a:sym typeface="Cambria"/>
              </a:rPr>
              <a:t>5</a:t>
            </a:r>
            <a:endParaRPr b="0" i="0" sz="1100" u="none" cap="none" strike="noStrike">
              <a:solidFill>
                <a:schemeClr val="dk1"/>
              </a:solidFill>
              <a:latin typeface="Calibri"/>
              <a:ea typeface="Calibri"/>
              <a:cs typeface="Calibri"/>
              <a:sym typeface="Calibri"/>
            </a:endParaRPr>
          </a:p>
        </p:txBody>
      </p:sp>
      <p:sp>
        <p:nvSpPr>
          <p:cNvPr id="391" name="Google Shape;391;p20"/>
          <p:cNvSpPr/>
          <p:nvPr/>
        </p:nvSpPr>
        <p:spPr>
          <a:xfrm>
            <a:off x="7098030" y="1563624"/>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0"/>
          <p:cNvSpPr/>
          <p:nvPr/>
        </p:nvSpPr>
        <p:spPr>
          <a:xfrm>
            <a:off x="7098030" y="1563624"/>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93" name="Google Shape;393;p20"/>
          <p:cNvSpPr/>
          <p:nvPr/>
        </p:nvSpPr>
        <p:spPr>
          <a:xfrm>
            <a:off x="7098030" y="2091690"/>
            <a:ext cx="109728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Checkout</a:t>
            </a:r>
            <a:endParaRPr b="0" i="0" sz="1000" u="none" cap="none" strike="noStrike">
              <a:solidFill>
                <a:schemeClr val="dk1"/>
              </a:solidFill>
              <a:latin typeface="Calibri"/>
              <a:ea typeface="Calibri"/>
              <a:cs typeface="Calibri"/>
              <a:sym typeface="Calibri"/>
            </a:endParaRPr>
          </a:p>
        </p:txBody>
      </p:sp>
      <p:sp>
        <p:nvSpPr>
          <p:cNvPr id="394" name="Google Shape;394;p20"/>
          <p:cNvSpPr/>
          <p:nvPr/>
        </p:nvSpPr>
        <p:spPr>
          <a:xfrm>
            <a:off x="7098030" y="2386584"/>
            <a:ext cx="1097280" cy="85725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Mock payment gateway completes the order.</a:t>
            </a:r>
            <a:endParaRPr b="0" i="0" sz="800" u="none" cap="none" strike="noStrike">
              <a:solidFill>
                <a:schemeClr val="dk1"/>
              </a:solidFill>
              <a:latin typeface="Calibri"/>
              <a:ea typeface="Calibri"/>
              <a:cs typeface="Calibri"/>
              <a:sym typeface="Calibri"/>
            </a:endParaRPr>
          </a:p>
        </p:txBody>
      </p:sp>
      <p:sp>
        <p:nvSpPr>
          <p:cNvPr id="395" name="Google Shape;395;p20"/>
          <p:cNvSpPr/>
          <p:nvPr/>
        </p:nvSpPr>
        <p:spPr>
          <a:xfrm>
            <a:off x="617220" y="3669030"/>
            <a:ext cx="7886700" cy="685800"/>
          </a:xfrm>
          <a:prstGeom prst="roundRect">
            <a:avLst>
              <a:gd fmla="val 8000" name="adj"/>
            </a:avLst>
          </a:prstGeom>
          <a:solidFill>
            <a:srgbClr val="24345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0"/>
          <p:cNvSpPr/>
          <p:nvPr/>
        </p:nvSpPr>
        <p:spPr>
          <a:xfrm>
            <a:off x="788670" y="3840480"/>
            <a:ext cx="342900" cy="34290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0"/>
          <p:cNvSpPr/>
          <p:nvPr/>
        </p:nvSpPr>
        <p:spPr>
          <a:xfrm>
            <a:off x="788670" y="3840480"/>
            <a:ext cx="342900"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Calibri"/>
              <a:buNone/>
            </a:pPr>
            <a:r>
              <a:rPr b="0" i="0" lang="en" sz="1100" u="none" cap="none" strike="noStrike">
                <a:solidFill>
                  <a:srgbClr val="00000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398" name="Google Shape;398;p20"/>
          <p:cNvSpPr/>
          <p:nvPr/>
        </p:nvSpPr>
        <p:spPr>
          <a:xfrm>
            <a:off x="1268730" y="3737610"/>
            <a:ext cx="70637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2FD9C4"/>
              </a:buClr>
              <a:buSzPts val="800"/>
              <a:buFont typeface="Calibri"/>
              <a:buNone/>
            </a:pPr>
            <a:r>
              <a:rPr b="1" i="0" lang="en" sz="800" u="none" cap="none" strike="noStrike">
                <a:solidFill>
                  <a:srgbClr val="2FD9C4"/>
                </a:solidFill>
                <a:latin typeface="Calibri"/>
                <a:ea typeface="Calibri"/>
                <a:cs typeface="Calibri"/>
                <a:sym typeface="Calibri"/>
              </a:rPr>
              <a:t>Personalization Signal:  </a:t>
            </a:r>
            <a:r>
              <a:rPr b="0" i="0" lang="en" sz="800" u="none" cap="none" strike="noStrike">
                <a:solidFill>
                  <a:srgbClr val="B9C6E8"/>
                </a:solidFill>
                <a:latin typeface="Calibri"/>
                <a:ea typeface="Calibri"/>
                <a:cs typeface="Calibri"/>
                <a:sym typeface="Calibri"/>
              </a:rPr>
              <a:t>Every product view and past order is written back to the database in real time, so the recommendation engine and the AI assistant are always reasoning over the shopper's current behavior — not a stale snapshot.</a:t>
            </a:r>
            <a:endParaRPr b="0" i="0" sz="800" u="none" cap="none" strike="noStrike">
              <a:solidFill>
                <a:schemeClr val="dk1"/>
              </a:solidFill>
              <a:latin typeface="Calibri"/>
              <a:ea typeface="Calibri"/>
              <a:cs typeface="Calibri"/>
              <a:sym typeface="Calibri"/>
            </a:endParaRPr>
          </a:p>
        </p:txBody>
      </p:sp>
      <p:sp>
        <p:nvSpPr>
          <p:cNvPr id="399" name="Google Shape;399;p20"/>
          <p:cNvSpPr/>
          <p:nvPr/>
        </p:nvSpPr>
        <p:spPr>
          <a:xfrm>
            <a:off x="617220" y="4834890"/>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98C2"/>
              </a:buClr>
              <a:buSzPts val="700"/>
              <a:buFont typeface="Calibri"/>
              <a:buNone/>
            </a:pPr>
            <a:r>
              <a:rPr b="1" i="0" lang="en" sz="700" u="none" cap="none" strike="noStrike">
                <a:solidFill>
                  <a:srgbClr val="8B98C2"/>
                </a:solidFill>
                <a:latin typeface="Calibri"/>
                <a:ea typeface="Calibri"/>
                <a:cs typeface="Calibri"/>
                <a:sym typeface="Calibri"/>
              </a:rPr>
              <a:t>AI SHOPPING ASSISTANT CHATBOT</a:t>
            </a:r>
            <a:endParaRPr b="0" i="0" sz="700" u="none" cap="none" strike="noStrike">
              <a:solidFill>
                <a:schemeClr val="dk1"/>
              </a:solidFill>
              <a:latin typeface="Calibri"/>
              <a:ea typeface="Calibri"/>
              <a:cs typeface="Calibri"/>
              <a:sym typeface="Calibri"/>
            </a:endParaRPr>
          </a:p>
        </p:txBody>
      </p:sp>
      <p:sp>
        <p:nvSpPr>
          <p:cNvPr id="400" name="Google Shape;400;p20"/>
          <p:cNvSpPr/>
          <p:nvPr/>
        </p:nvSpPr>
        <p:spPr>
          <a:xfrm>
            <a:off x="8524494" y="4834890"/>
            <a:ext cx="34290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B98C2"/>
              </a:buClr>
              <a:buSzPts val="800"/>
              <a:buFont typeface="Calibri"/>
              <a:buNone/>
            </a:pPr>
            <a:r>
              <a:rPr b="0" i="0" lang="en" sz="800" u="none" cap="none" strike="noStrike">
                <a:solidFill>
                  <a:srgbClr val="8B98C2"/>
                </a:solidFill>
                <a:latin typeface="Calibri"/>
                <a:ea typeface="Calibri"/>
                <a:cs typeface="Calibri"/>
                <a:sym typeface="Calibri"/>
              </a:rPr>
              <a:t>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405" name="Shape 405"/>
        <p:cNvGrpSpPr/>
        <p:nvPr/>
      </p:nvGrpSpPr>
      <p:grpSpPr>
        <a:xfrm>
          <a:off x="0" y="0"/>
          <a:ext cx="0" cy="0"/>
          <a:chOff x="0" y="0"/>
          <a:chExt cx="0" cy="0"/>
        </a:xfrm>
      </p:grpSpPr>
      <p:sp>
        <p:nvSpPr>
          <p:cNvPr id="406" name="Google Shape;406;p21"/>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1"/>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1"/>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1"/>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1"/>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21"/>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1"/>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1"/>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1"/>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1"/>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1"/>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1"/>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1"/>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1"/>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1"/>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1"/>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1"/>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1"/>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1"/>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1"/>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1"/>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1"/>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1"/>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1"/>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1"/>
          <p:cNvSpPr/>
          <p:nvPr/>
        </p:nvSpPr>
        <p:spPr>
          <a:xfrm>
            <a:off x="617220" y="342900"/>
            <a:ext cx="61722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000"/>
              <a:buFont typeface="Calibri"/>
              <a:buNone/>
            </a:pPr>
            <a:r>
              <a:rPr b="1" i="0" lang="en" sz="1000" u="none" cap="none" strike="noStrike">
                <a:solidFill>
                  <a:srgbClr val="2FD9C4"/>
                </a:solidFill>
                <a:latin typeface="Calibri"/>
                <a:ea typeface="Calibri"/>
                <a:cs typeface="Calibri"/>
                <a:sym typeface="Calibri"/>
              </a:rPr>
              <a:t>ACTUAL WORKING — LIVE APP</a:t>
            </a:r>
            <a:endParaRPr b="0" i="0" sz="1000" u="none" cap="none" strike="noStrike">
              <a:solidFill>
                <a:schemeClr val="dk1"/>
              </a:solidFill>
              <a:latin typeface="Calibri"/>
              <a:ea typeface="Calibri"/>
              <a:cs typeface="Calibri"/>
              <a:sym typeface="Calibri"/>
            </a:endParaRPr>
          </a:p>
        </p:txBody>
      </p:sp>
      <p:sp>
        <p:nvSpPr>
          <p:cNvPr id="431" name="Google Shape;431;p21"/>
          <p:cNvSpPr/>
          <p:nvPr/>
        </p:nvSpPr>
        <p:spPr>
          <a:xfrm>
            <a:off x="617220" y="58293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2300"/>
              <a:buFont typeface="Cambria"/>
              <a:buNone/>
            </a:pPr>
            <a:r>
              <a:rPr b="1" i="0" lang="en" sz="2300" u="none" cap="none" strike="noStrike">
                <a:solidFill>
                  <a:srgbClr val="EDF3FF"/>
                </a:solidFill>
                <a:latin typeface="Cambria"/>
                <a:ea typeface="Cambria"/>
                <a:cs typeface="Cambria"/>
                <a:sym typeface="Cambria"/>
              </a:rPr>
              <a:t>Grounded Product Data, End to End</a:t>
            </a:r>
            <a:endParaRPr b="0" i="0" sz="2300" u="none" cap="none" strike="noStrike">
              <a:solidFill>
                <a:schemeClr val="dk1"/>
              </a:solidFill>
              <a:latin typeface="Calibri"/>
              <a:ea typeface="Calibri"/>
              <a:cs typeface="Calibri"/>
              <a:sym typeface="Calibri"/>
            </a:endParaRPr>
          </a:p>
        </p:txBody>
      </p:sp>
      <p:sp>
        <p:nvSpPr>
          <p:cNvPr id="432" name="Google Shape;432;p21"/>
          <p:cNvSpPr/>
          <p:nvPr/>
        </p:nvSpPr>
        <p:spPr>
          <a:xfrm>
            <a:off x="617220" y="1337310"/>
            <a:ext cx="3531870" cy="1028700"/>
          </a:xfrm>
          <a:prstGeom prst="roundRect">
            <a:avLst>
              <a:gd fmla="val 600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1"/>
          <p:cNvSpPr/>
          <p:nvPr/>
        </p:nvSpPr>
        <p:spPr>
          <a:xfrm>
            <a:off x="788670" y="1440180"/>
            <a:ext cx="322326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Real specs, not guesses</a:t>
            </a:r>
            <a:endParaRPr b="0" i="0" sz="1000" u="none" cap="none" strike="noStrike">
              <a:solidFill>
                <a:schemeClr val="dk1"/>
              </a:solidFill>
              <a:latin typeface="Calibri"/>
              <a:ea typeface="Calibri"/>
              <a:cs typeface="Calibri"/>
              <a:sym typeface="Calibri"/>
            </a:endParaRPr>
          </a:p>
        </p:txBody>
      </p:sp>
      <p:sp>
        <p:nvSpPr>
          <p:cNvPr id="434" name="Google Shape;434;p21"/>
          <p:cNvSpPr/>
          <p:nvPr/>
        </p:nvSpPr>
        <p:spPr>
          <a:xfrm>
            <a:off x="788670" y="1680210"/>
            <a:ext cx="3223260" cy="61722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The product page (and the assistant's get_product_specs tool) both read the exact same SQLite row — screen size, storage, RAM, battery, processor.</a:t>
            </a:r>
            <a:endParaRPr b="0" i="0" sz="800" u="none" cap="none" strike="noStrike">
              <a:solidFill>
                <a:schemeClr val="dk1"/>
              </a:solidFill>
              <a:latin typeface="Calibri"/>
              <a:ea typeface="Calibri"/>
              <a:cs typeface="Calibri"/>
              <a:sym typeface="Calibri"/>
            </a:endParaRPr>
          </a:p>
        </p:txBody>
      </p:sp>
      <p:sp>
        <p:nvSpPr>
          <p:cNvPr id="435" name="Google Shape;435;p21"/>
          <p:cNvSpPr/>
          <p:nvPr/>
        </p:nvSpPr>
        <p:spPr>
          <a:xfrm>
            <a:off x="617220" y="2516886"/>
            <a:ext cx="3531870" cy="1028700"/>
          </a:xfrm>
          <a:prstGeom prst="roundRect">
            <a:avLst>
              <a:gd fmla="val 600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1"/>
          <p:cNvSpPr/>
          <p:nvPr/>
        </p:nvSpPr>
        <p:spPr>
          <a:xfrm>
            <a:off x="771533" y="2619756"/>
            <a:ext cx="3223200" cy="240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Exact live pricing</a:t>
            </a:r>
            <a:endParaRPr b="0" i="0" sz="1000" u="none" cap="none" strike="noStrike">
              <a:solidFill>
                <a:schemeClr val="dk1"/>
              </a:solidFill>
              <a:latin typeface="Calibri"/>
              <a:ea typeface="Calibri"/>
              <a:cs typeface="Calibri"/>
              <a:sym typeface="Calibri"/>
            </a:endParaRPr>
          </a:p>
        </p:txBody>
      </p:sp>
      <p:sp>
        <p:nvSpPr>
          <p:cNvPr id="437" name="Google Shape;437;p21"/>
          <p:cNvSpPr/>
          <p:nvPr/>
        </p:nvSpPr>
        <p:spPr>
          <a:xfrm>
            <a:off x="788670" y="2859786"/>
            <a:ext cx="3223260" cy="61722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Prices shown to the shopper are identical to what the assistant quotes in chat — single source of truth.</a:t>
            </a:r>
            <a:endParaRPr b="0" i="0" sz="800" u="none" cap="none" strike="noStrike">
              <a:solidFill>
                <a:schemeClr val="dk1"/>
              </a:solidFill>
              <a:latin typeface="Calibri"/>
              <a:ea typeface="Calibri"/>
              <a:cs typeface="Calibri"/>
              <a:sym typeface="Calibri"/>
            </a:endParaRPr>
          </a:p>
        </p:txBody>
      </p:sp>
      <p:sp>
        <p:nvSpPr>
          <p:cNvPr id="438" name="Google Shape;438;p21"/>
          <p:cNvSpPr/>
          <p:nvPr/>
        </p:nvSpPr>
        <p:spPr>
          <a:xfrm>
            <a:off x="617220" y="3696462"/>
            <a:ext cx="3531870" cy="1028700"/>
          </a:xfrm>
          <a:prstGeom prst="roundRect">
            <a:avLst>
              <a:gd fmla="val 600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21"/>
          <p:cNvSpPr/>
          <p:nvPr/>
        </p:nvSpPr>
        <p:spPr>
          <a:xfrm>
            <a:off x="788670" y="3799332"/>
            <a:ext cx="322326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Related-product logic reused</a:t>
            </a:r>
            <a:endParaRPr b="0" i="0" sz="1000" u="none" cap="none" strike="noStrike">
              <a:solidFill>
                <a:schemeClr val="dk1"/>
              </a:solidFill>
              <a:latin typeface="Calibri"/>
              <a:ea typeface="Calibri"/>
              <a:cs typeface="Calibri"/>
              <a:sym typeface="Calibri"/>
            </a:endParaRPr>
          </a:p>
        </p:txBody>
      </p:sp>
      <p:sp>
        <p:nvSpPr>
          <p:cNvPr id="440" name="Google Shape;440;p21"/>
          <p:cNvSpPr/>
          <p:nvPr/>
        </p:nvSpPr>
        <p:spPr>
          <a:xfrm>
            <a:off x="788670" y="4039362"/>
            <a:ext cx="3223260" cy="61722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“You may also like” and the assistant's recommendation tool both query by category, keeping suggestions consistent everywhere.</a:t>
            </a:r>
            <a:endParaRPr b="0" i="0" sz="800" u="none" cap="none" strike="noStrike">
              <a:solidFill>
                <a:schemeClr val="dk1"/>
              </a:solidFill>
              <a:latin typeface="Calibri"/>
              <a:ea typeface="Calibri"/>
              <a:cs typeface="Calibri"/>
              <a:sym typeface="Calibri"/>
            </a:endParaRPr>
          </a:p>
        </p:txBody>
      </p:sp>
      <p:sp>
        <p:nvSpPr>
          <p:cNvPr id="441" name="Google Shape;441;p21"/>
          <p:cNvSpPr/>
          <p:nvPr/>
        </p:nvSpPr>
        <p:spPr>
          <a:xfrm>
            <a:off x="617220" y="4834890"/>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98C2"/>
              </a:buClr>
              <a:buSzPts val="700"/>
              <a:buFont typeface="Calibri"/>
              <a:buNone/>
            </a:pPr>
            <a:r>
              <a:rPr b="1" i="0" lang="en" sz="700" u="none" cap="none" strike="noStrike">
                <a:solidFill>
                  <a:srgbClr val="8B98C2"/>
                </a:solidFill>
                <a:latin typeface="Calibri"/>
                <a:ea typeface="Calibri"/>
                <a:cs typeface="Calibri"/>
                <a:sym typeface="Calibri"/>
              </a:rPr>
              <a:t>AI SHOPPING ASSISTANT CHATBOT</a:t>
            </a:r>
            <a:endParaRPr b="0" i="0" sz="700" u="none" cap="none" strike="noStrike">
              <a:solidFill>
                <a:schemeClr val="dk1"/>
              </a:solidFill>
              <a:latin typeface="Calibri"/>
              <a:ea typeface="Calibri"/>
              <a:cs typeface="Calibri"/>
              <a:sym typeface="Calibri"/>
            </a:endParaRPr>
          </a:p>
        </p:txBody>
      </p:sp>
      <p:sp>
        <p:nvSpPr>
          <p:cNvPr id="442" name="Google Shape;442;p21"/>
          <p:cNvSpPr/>
          <p:nvPr/>
        </p:nvSpPr>
        <p:spPr>
          <a:xfrm>
            <a:off x="8524494" y="4834890"/>
            <a:ext cx="34290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B98C2"/>
              </a:buClr>
              <a:buSzPts val="800"/>
              <a:buFont typeface="Calibri"/>
              <a:buNone/>
            </a:pPr>
            <a:r>
              <a:rPr b="0" i="0" lang="en" sz="800" u="none" cap="none" strike="noStrike">
                <a:solidFill>
                  <a:srgbClr val="8B98C2"/>
                </a:solidFill>
                <a:latin typeface="Calibri"/>
                <a:ea typeface="Calibri"/>
                <a:cs typeface="Calibri"/>
                <a:sym typeface="Calibri"/>
              </a:rPr>
              <a:t>8</a:t>
            </a:r>
            <a:endParaRPr b="0" i="0" sz="800" u="none" cap="none" strike="noStrike">
              <a:solidFill>
                <a:schemeClr val="dk1"/>
              </a:solidFill>
              <a:latin typeface="Calibri"/>
              <a:ea typeface="Calibri"/>
              <a:cs typeface="Calibri"/>
              <a:sym typeface="Calibri"/>
            </a:endParaRPr>
          </a:p>
        </p:txBody>
      </p:sp>
      <p:pic>
        <p:nvPicPr>
          <p:cNvPr id="443" name="Google Shape;443;p21"/>
          <p:cNvPicPr preferRelativeResize="0"/>
          <p:nvPr/>
        </p:nvPicPr>
        <p:blipFill rotWithShape="1">
          <a:blip r:embed="rId3">
            <a:alphaModFix/>
          </a:blip>
          <a:srcRect b="0" l="0" r="0" t="0"/>
          <a:stretch/>
        </p:blipFill>
        <p:spPr>
          <a:xfrm>
            <a:off x="4439675" y="1210425"/>
            <a:ext cx="4427724" cy="3645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A33"/>
        </a:solidFill>
      </p:bgPr>
    </p:bg>
    <p:spTree>
      <p:nvGrpSpPr>
        <p:cNvPr id="448" name="Shape 448"/>
        <p:cNvGrpSpPr/>
        <p:nvPr/>
      </p:nvGrpSpPr>
      <p:grpSpPr>
        <a:xfrm>
          <a:off x="0" y="0"/>
          <a:ext cx="0" cy="0"/>
          <a:chOff x="0" y="0"/>
          <a:chExt cx="0" cy="0"/>
        </a:xfrm>
      </p:grpSpPr>
      <p:sp>
        <p:nvSpPr>
          <p:cNvPr id="449" name="Google Shape;449;p22"/>
          <p:cNvSpPr/>
          <p:nvPr/>
        </p:nvSpPr>
        <p:spPr>
          <a:xfrm>
            <a:off x="742721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2"/>
          <p:cNvSpPr/>
          <p:nvPr/>
        </p:nvSpPr>
        <p:spPr>
          <a:xfrm>
            <a:off x="7591806"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2"/>
          <p:cNvSpPr/>
          <p:nvPr/>
        </p:nvSpPr>
        <p:spPr>
          <a:xfrm>
            <a:off x="7756398"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2"/>
          <p:cNvSpPr/>
          <p:nvPr/>
        </p:nvSpPr>
        <p:spPr>
          <a:xfrm>
            <a:off x="7920990"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2"/>
          <p:cNvSpPr/>
          <p:nvPr/>
        </p:nvSpPr>
        <p:spPr>
          <a:xfrm>
            <a:off x="8085582"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2"/>
          <p:cNvSpPr/>
          <p:nvPr/>
        </p:nvSpPr>
        <p:spPr>
          <a:xfrm>
            <a:off x="8250174" y="377190"/>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2"/>
          <p:cNvSpPr/>
          <p:nvPr/>
        </p:nvSpPr>
        <p:spPr>
          <a:xfrm>
            <a:off x="742721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2"/>
          <p:cNvSpPr/>
          <p:nvPr/>
        </p:nvSpPr>
        <p:spPr>
          <a:xfrm>
            <a:off x="7591806"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2"/>
          <p:cNvSpPr/>
          <p:nvPr/>
        </p:nvSpPr>
        <p:spPr>
          <a:xfrm>
            <a:off x="7756398"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2"/>
          <p:cNvSpPr/>
          <p:nvPr/>
        </p:nvSpPr>
        <p:spPr>
          <a:xfrm>
            <a:off x="7920990"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2"/>
          <p:cNvSpPr/>
          <p:nvPr/>
        </p:nvSpPr>
        <p:spPr>
          <a:xfrm>
            <a:off x="8085582"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2"/>
          <p:cNvSpPr/>
          <p:nvPr/>
        </p:nvSpPr>
        <p:spPr>
          <a:xfrm>
            <a:off x="8250174" y="541782"/>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2"/>
          <p:cNvSpPr/>
          <p:nvPr/>
        </p:nvSpPr>
        <p:spPr>
          <a:xfrm>
            <a:off x="742721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2"/>
          <p:cNvSpPr/>
          <p:nvPr/>
        </p:nvSpPr>
        <p:spPr>
          <a:xfrm>
            <a:off x="7591806"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2"/>
          <p:cNvSpPr/>
          <p:nvPr/>
        </p:nvSpPr>
        <p:spPr>
          <a:xfrm>
            <a:off x="7756398"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2"/>
          <p:cNvSpPr/>
          <p:nvPr/>
        </p:nvSpPr>
        <p:spPr>
          <a:xfrm>
            <a:off x="7920990"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22"/>
          <p:cNvSpPr/>
          <p:nvPr/>
        </p:nvSpPr>
        <p:spPr>
          <a:xfrm>
            <a:off x="8085582"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2"/>
          <p:cNvSpPr/>
          <p:nvPr/>
        </p:nvSpPr>
        <p:spPr>
          <a:xfrm>
            <a:off x="8250174" y="706374"/>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2"/>
          <p:cNvSpPr/>
          <p:nvPr/>
        </p:nvSpPr>
        <p:spPr>
          <a:xfrm>
            <a:off x="742721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2"/>
          <p:cNvSpPr/>
          <p:nvPr/>
        </p:nvSpPr>
        <p:spPr>
          <a:xfrm>
            <a:off x="7591806"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22"/>
          <p:cNvSpPr/>
          <p:nvPr/>
        </p:nvSpPr>
        <p:spPr>
          <a:xfrm>
            <a:off x="7756398"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22"/>
          <p:cNvSpPr/>
          <p:nvPr/>
        </p:nvSpPr>
        <p:spPr>
          <a:xfrm>
            <a:off x="7920990"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2"/>
          <p:cNvSpPr/>
          <p:nvPr/>
        </p:nvSpPr>
        <p:spPr>
          <a:xfrm>
            <a:off x="8085582"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2"/>
          <p:cNvSpPr/>
          <p:nvPr/>
        </p:nvSpPr>
        <p:spPr>
          <a:xfrm>
            <a:off x="8250174" y="870966"/>
            <a:ext cx="30861" cy="30861"/>
          </a:xfrm>
          <a:prstGeom prst="ellipse">
            <a:avLst/>
          </a:prstGeom>
          <a:solidFill>
            <a:srgbClr val="2FD9C4">
              <a:alpha val="54902"/>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2"/>
          <p:cNvSpPr/>
          <p:nvPr/>
        </p:nvSpPr>
        <p:spPr>
          <a:xfrm>
            <a:off x="617220" y="342900"/>
            <a:ext cx="61722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1000"/>
              <a:buFont typeface="Calibri"/>
              <a:buNone/>
            </a:pPr>
            <a:r>
              <a:rPr b="1" i="0" lang="en" sz="1000" u="none" cap="none" strike="noStrike">
                <a:solidFill>
                  <a:srgbClr val="2FD9C4"/>
                </a:solidFill>
                <a:latin typeface="Calibri"/>
                <a:ea typeface="Calibri"/>
                <a:cs typeface="Calibri"/>
                <a:sym typeface="Calibri"/>
              </a:rPr>
              <a:t>CONCLUSION &amp; FUTURE SCOPE</a:t>
            </a:r>
            <a:endParaRPr b="0" i="0" sz="1000" u="none" cap="none" strike="noStrike">
              <a:solidFill>
                <a:schemeClr val="dk1"/>
              </a:solidFill>
              <a:latin typeface="Calibri"/>
              <a:ea typeface="Calibri"/>
              <a:cs typeface="Calibri"/>
              <a:sym typeface="Calibri"/>
            </a:endParaRPr>
          </a:p>
        </p:txBody>
      </p:sp>
      <p:sp>
        <p:nvSpPr>
          <p:cNvPr id="474" name="Google Shape;474;p22"/>
          <p:cNvSpPr/>
          <p:nvPr/>
        </p:nvSpPr>
        <p:spPr>
          <a:xfrm>
            <a:off x="617220" y="582930"/>
            <a:ext cx="720090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DF3FF"/>
              </a:buClr>
              <a:buSzPts val="2300"/>
              <a:buFont typeface="Cambria"/>
              <a:buNone/>
            </a:pPr>
            <a:r>
              <a:rPr b="1" i="0" lang="en" sz="2300" u="none" cap="none" strike="noStrike">
                <a:solidFill>
                  <a:srgbClr val="EDF3FF"/>
                </a:solidFill>
                <a:latin typeface="Cambria"/>
                <a:ea typeface="Cambria"/>
                <a:cs typeface="Cambria"/>
                <a:sym typeface="Cambria"/>
              </a:rPr>
              <a:t>A Grounded, Personal Shopping Experience</a:t>
            </a:r>
            <a:endParaRPr b="0" i="0" sz="2300" u="none" cap="none" strike="noStrike">
              <a:solidFill>
                <a:schemeClr val="dk1"/>
              </a:solidFill>
              <a:latin typeface="Calibri"/>
              <a:ea typeface="Calibri"/>
              <a:cs typeface="Calibri"/>
              <a:sym typeface="Calibri"/>
            </a:endParaRPr>
          </a:p>
        </p:txBody>
      </p:sp>
      <p:sp>
        <p:nvSpPr>
          <p:cNvPr id="475" name="Google Shape;475;p22"/>
          <p:cNvSpPr/>
          <p:nvPr/>
        </p:nvSpPr>
        <p:spPr>
          <a:xfrm>
            <a:off x="617220" y="1165860"/>
            <a:ext cx="7886700"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B9C6E8"/>
              </a:buClr>
              <a:buSzPts val="1100"/>
              <a:buFont typeface="Calibri"/>
              <a:buNone/>
            </a:pPr>
            <a:r>
              <a:rPr b="0" i="0" lang="en" sz="1100" u="none" cap="none" strike="noStrike">
                <a:solidFill>
                  <a:srgbClr val="B9C6E8"/>
                </a:solidFill>
                <a:latin typeface="Calibri"/>
                <a:ea typeface="Calibri"/>
                <a:cs typeface="Calibri"/>
                <a:sym typeface="Calibri"/>
              </a:rPr>
              <a:t>This project pairs a full FastAPI + SQLAlchemy backend with OpenAI function calling to deliver a shopping assistant that is conversational, personalized, and always factually grounded in real product data.</a:t>
            </a:r>
            <a:endParaRPr b="0" i="0" sz="1100" u="none" cap="none" strike="noStrike">
              <a:solidFill>
                <a:schemeClr val="dk1"/>
              </a:solidFill>
              <a:latin typeface="Calibri"/>
              <a:ea typeface="Calibri"/>
              <a:cs typeface="Calibri"/>
              <a:sym typeface="Calibri"/>
            </a:endParaRPr>
          </a:p>
        </p:txBody>
      </p:sp>
      <p:sp>
        <p:nvSpPr>
          <p:cNvPr id="476" name="Google Shape;476;p22"/>
          <p:cNvSpPr/>
          <p:nvPr/>
        </p:nvSpPr>
        <p:spPr>
          <a:xfrm>
            <a:off x="617220" y="1748790"/>
            <a:ext cx="41148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FD9C4"/>
              </a:buClr>
              <a:buSzPts val="900"/>
              <a:buFont typeface="Calibri"/>
              <a:buNone/>
            </a:pPr>
            <a:r>
              <a:rPr b="1" i="0" lang="en" sz="900" u="none" cap="none" strike="noStrike">
                <a:solidFill>
                  <a:srgbClr val="2FD9C4"/>
                </a:solidFill>
                <a:latin typeface="Calibri"/>
                <a:ea typeface="Calibri"/>
                <a:cs typeface="Calibri"/>
                <a:sym typeface="Calibri"/>
              </a:rPr>
              <a:t>WHAT'S NEXT</a:t>
            </a:r>
            <a:endParaRPr b="0" i="0" sz="900" u="none" cap="none" strike="noStrike">
              <a:solidFill>
                <a:schemeClr val="dk1"/>
              </a:solidFill>
              <a:latin typeface="Calibri"/>
              <a:ea typeface="Calibri"/>
              <a:cs typeface="Calibri"/>
              <a:sym typeface="Calibri"/>
            </a:endParaRPr>
          </a:p>
        </p:txBody>
      </p:sp>
      <p:sp>
        <p:nvSpPr>
          <p:cNvPr id="477" name="Google Shape;477;p22"/>
          <p:cNvSpPr/>
          <p:nvPr/>
        </p:nvSpPr>
        <p:spPr>
          <a:xfrm>
            <a:off x="617220" y="2023110"/>
            <a:ext cx="1837944" cy="144018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2"/>
          <p:cNvSpPr/>
          <p:nvPr/>
        </p:nvSpPr>
        <p:spPr>
          <a:xfrm>
            <a:off x="788670" y="2194560"/>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2"/>
          <p:cNvSpPr/>
          <p:nvPr/>
        </p:nvSpPr>
        <p:spPr>
          <a:xfrm>
            <a:off x="788670" y="2194560"/>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0" name="Google Shape;480;p22"/>
          <p:cNvSpPr/>
          <p:nvPr/>
        </p:nvSpPr>
        <p:spPr>
          <a:xfrm>
            <a:off x="788670" y="2708910"/>
            <a:ext cx="1495044" cy="342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Voice &amp; Multi-Language</a:t>
            </a:r>
            <a:endParaRPr b="0" i="0" sz="1000" u="none" cap="none" strike="noStrike">
              <a:solidFill>
                <a:schemeClr val="dk1"/>
              </a:solidFill>
              <a:latin typeface="Calibri"/>
              <a:ea typeface="Calibri"/>
              <a:cs typeface="Calibri"/>
              <a:sym typeface="Calibri"/>
            </a:endParaRPr>
          </a:p>
        </p:txBody>
      </p:sp>
      <p:sp>
        <p:nvSpPr>
          <p:cNvPr id="481" name="Google Shape;481;p22"/>
          <p:cNvSpPr/>
          <p:nvPr/>
        </p:nvSpPr>
        <p:spPr>
          <a:xfrm>
            <a:off x="788670" y="2952085"/>
            <a:ext cx="1494900" cy="3087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Voice input and localized conversations for a broader audience.</a:t>
            </a:r>
            <a:endParaRPr b="0" i="0" sz="800" u="none" cap="none" strike="noStrike">
              <a:solidFill>
                <a:schemeClr val="dk1"/>
              </a:solidFill>
              <a:latin typeface="Calibri"/>
              <a:ea typeface="Calibri"/>
              <a:cs typeface="Calibri"/>
              <a:sym typeface="Calibri"/>
            </a:endParaRPr>
          </a:p>
        </p:txBody>
      </p:sp>
      <p:sp>
        <p:nvSpPr>
          <p:cNvPr id="482" name="Google Shape;482;p22"/>
          <p:cNvSpPr/>
          <p:nvPr/>
        </p:nvSpPr>
        <p:spPr>
          <a:xfrm>
            <a:off x="2647188" y="2023110"/>
            <a:ext cx="1837944" cy="144018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2"/>
          <p:cNvSpPr/>
          <p:nvPr/>
        </p:nvSpPr>
        <p:spPr>
          <a:xfrm>
            <a:off x="2818638" y="2194560"/>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22"/>
          <p:cNvSpPr/>
          <p:nvPr/>
        </p:nvSpPr>
        <p:spPr>
          <a:xfrm>
            <a:off x="2818638" y="2194560"/>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5" name="Google Shape;485;p22"/>
          <p:cNvSpPr/>
          <p:nvPr/>
        </p:nvSpPr>
        <p:spPr>
          <a:xfrm>
            <a:off x="2818638" y="2708910"/>
            <a:ext cx="1495044" cy="342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Vector Search / RAG</a:t>
            </a:r>
            <a:endParaRPr b="0" i="0" sz="1000" u="none" cap="none" strike="noStrike">
              <a:solidFill>
                <a:schemeClr val="dk1"/>
              </a:solidFill>
              <a:latin typeface="Calibri"/>
              <a:ea typeface="Calibri"/>
              <a:cs typeface="Calibri"/>
              <a:sym typeface="Calibri"/>
            </a:endParaRPr>
          </a:p>
        </p:txBody>
      </p:sp>
      <p:sp>
        <p:nvSpPr>
          <p:cNvPr id="486" name="Google Shape;486;p22"/>
          <p:cNvSpPr/>
          <p:nvPr/>
        </p:nvSpPr>
        <p:spPr>
          <a:xfrm>
            <a:off x="2818638" y="2952123"/>
            <a:ext cx="1494900" cy="3087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Embedding-based retrieval for deeper semantic product matching.</a:t>
            </a:r>
            <a:endParaRPr b="0" i="0" sz="800" u="none" cap="none" strike="noStrike">
              <a:solidFill>
                <a:schemeClr val="dk1"/>
              </a:solidFill>
              <a:latin typeface="Calibri"/>
              <a:ea typeface="Calibri"/>
              <a:cs typeface="Calibri"/>
              <a:sym typeface="Calibri"/>
            </a:endParaRPr>
          </a:p>
        </p:txBody>
      </p:sp>
      <p:sp>
        <p:nvSpPr>
          <p:cNvPr id="487" name="Google Shape;487;p22"/>
          <p:cNvSpPr/>
          <p:nvPr/>
        </p:nvSpPr>
        <p:spPr>
          <a:xfrm>
            <a:off x="4677156" y="2023110"/>
            <a:ext cx="1837944" cy="144018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2"/>
          <p:cNvSpPr/>
          <p:nvPr/>
        </p:nvSpPr>
        <p:spPr>
          <a:xfrm>
            <a:off x="4848606" y="2194560"/>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2"/>
          <p:cNvSpPr/>
          <p:nvPr/>
        </p:nvSpPr>
        <p:spPr>
          <a:xfrm>
            <a:off x="4848606" y="2194560"/>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90" name="Google Shape;490;p22"/>
          <p:cNvSpPr/>
          <p:nvPr/>
        </p:nvSpPr>
        <p:spPr>
          <a:xfrm>
            <a:off x="4848606" y="2708910"/>
            <a:ext cx="1495044" cy="342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Real Payment Integration</a:t>
            </a:r>
            <a:endParaRPr b="0" i="0" sz="1000" u="none" cap="none" strike="noStrike">
              <a:solidFill>
                <a:schemeClr val="dk1"/>
              </a:solidFill>
              <a:latin typeface="Calibri"/>
              <a:ea typeface="Calibri"/>
              <a:cs typeface="Calibri"/>
              <a:sym typeface="Calibri"/>
            </a:endParaRPr>
          </a:p>
        </p:txBody>
      </p:sp>
      <p:sp>
        <p:nvSpPr>
          <p:cNvPr id="491" name="Google Shape;491;p22"/>
          <p:cNvSpPr/>
          <p:nvPr/>
        </p:nvSpPr>
        <p:spPr>
          <a:xfrm>
            <a:off x="4848606" y="2952123"/>
            <a:ext cx="1494900" cy="3087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Replace the mock gateway with a live provider (Stripe/Razorpay).</a:t>
            </a:r>
            <a:endParaRPr b="0" i="0" sz="800" u="none" cap="none" strike="noStrike">
              <a:solidFill>
                <a:schemeClr val="dk1"/>
              </a:solidFill>
              <a:latin typeface="Calibri"/>
              <a:ea typeface="Calibri"/>
              <a:cs typeface="Calibri"/>
              <a:sym typeface="Calibri"/>
            </a:endParaRPr>
          </a:p>
        </p:txBody>
      </p:sp>
      <p:sp>
        <p:nvSpPr>
          <p:cNvPr id="492" name="Google Shape;492;p22"/>
          <p:cNvSpPr/>
          <p:nvPr/>
        </p:nvSpPr>
        <p:spPr>
          <a:xfrm>
            <a:off x="6707124" y="2023110"/>
            <a:ext cx="1837944" cy="1440180"/>
          </a:xfrm>
          <a:prstGeom prst="roundRect">
            <a:avLst>
              <a:gd fmla="val 3810" name="adj"/>
            </a:avLst>
          </a:prstGeom>
          <a:solidFill>
            <a:srgbClr val="2A3B6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2"/>
          <p:cNvSpPr/>
          <p:nvPr/>
        </p:nvSpPr>
        <p:spPr>
          <a:xfrm>
            <a:off x="6878574" y="2194560"/>
            <a:ext cx="377190" cy="377190"/>
          </a:xfrm>
          <a:prstGeom prst="ellipse">
            <a:avLst/>
          </a:prstGeom>
          <a:solidFill>
            <a:srgbClr val="1FA5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2"/>
          <p:cNvSpPr/>
          <p:nvPr/>
        </p:nvSpPr>
        <p:spPr>
          <a:xfrm>
            <a:off x="6878574" y="2194560"/>
            <a:ext cx="377190" cy="37719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95" name="Google Shape;495;p22"/>
          <p:cNvSpPr/>
          <p:nvPr/>
        </p:nvSpPr>
        <p:spPr>
          <a:xfrm>
            <a:off x="6878574" y="2708910"/>
            <a:ext cx="1495044" cy="342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DF3FF"/>
              </a:buClr>
              <a:buSzPts val="1000"/>
              <a:buFont typeface="Calibri"/>
              <a:buNone/>
            </a:pPr>
            <a:r>
              <a:rPr b="1" i="0" lang="en" sz="1000" u="none" cap="none" strike="noStrike">
                <a:solidFill>
                  <a:srgbClr val="EDF3FF"/>
                </a:solidFill>
                <a:latin typeface="Calibri"/>
                <a:ea typeface="Calibri"/>
                <a:cs typeface="Calibri"/>
                <a:sym typeface="Calibri"/>
              </a:rPr>
              <a:t>Analytics Dashboard</a:t>
            </a:r>
            <a:endParaRPr b="0" i="0" sz="1000" u="none" cap="none" strike="noStrike">
              <a:solidFill>
                <a:schemeClr val="dk1"/>
              </a:solidFill>
              <a:latin typeface="Calibri"/>
              <a:ea typeface="Calibri"/>
              <a:cs typeface="Calibri"/>
              <a:sym typeface="Calibri"/>
            </a:endParaRPr>
          </a:p>
        </p:txBody>
      </p:sp>
      <p:sp>
        <p:nvSpPr>
          <p:cNvPr id="496" name="Google Shape;496;p22"/>
          <p:cNvSpPr/>
          <p:nvPr/>
        </p:nvSpPr>
        <p:spPr>
          <a:xfrm>
            <a:off x="6878574" y="2952123"/>
            <a:ext cx="1494900" cy="3087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B9C6E8"/>
              </a:buClr>
              <a:buSzPts val="800"/>
              <a:buFont typeface="Calibri"/>
              <a:buNone/>
            </a:pPr>
            <a:r>
              <a:rPr b="0" i="0" lang="en" sz="800" u="none" cap="none" strike="noStrike">
                <a:solidFill>
                  <a:srgbClr val="B9C6E8"/>
                </a:solidFill>
                <a:latin typeface="Calibri"/>
                <a:ea typeface="Calibri"/>
                <a:cs typeface="Calibri"/>
                <a:sym typeface="Calibri"/>
              </a:rPr>
              <a:t>Admin insights into chat trends, conversions, and inventory gaps.</a:t>
            </a:r>
            <a:endParaRPr b="0" i="0" sz="800" u="none" cap="none" strike="noStrike">
              <a:solidFill>
                <a:schemeClr val="dk1"/>
              </a:solidFill>
              <a:latin typeface="Calibri"/>
              <a:ea typeface="Calibri"/>
              <a:cs typeface="Calibri"/>
              <a:sym typeface="Calibri"/>
            </a:endParaRPr>
          </a:p>
        </p:txBody>
      </p:sp>
      <p:cxnSp>
        <p:nvCxnSpPr>
          <p:cNvPr id="497" name="Google Shape;497;p22"/>
          <p:cNvCxnSpPr/>
          <p:nvPr/>
        </p:nvCxnSpPr>
        <p:spPr>
          <a:xfrm>
            <a:off x="617220" y="3771900"/>
            <a:ext cx="7886700" cy="0"/>
          </a:xfrm>
          <a:prstGeom prst="straightConnector1">
            <a:avLst/>
          </a:prstGeom>
          <a:noFill/>
          <a:ln cap="flat" cmpd="sng" w="12700">
            <a:solidFill>
              <a:srgbClr val="324575"/>
            </a:solidFill>
            <a:prstDash val="solid"/>
            <a:round/>
            <a:headEnd len="sm" w="sm" type="none"/>
            <a:tailEnd len="sm" w="sm" type="none"/>
          </a:ln>
        </p:spPr>
      </p:cxnSp>
      <p:sp>
        <p:nvSpPr>
          <p:cNvPr id="498" name="Google Shape;498;p22"/>
          <p:cNvSpPr/>
          <p:nvPr/>
        </p:nvSpPr>
        <p:spPr>
          <a:xfrm>
            <a:off x="617220" y="4011930"/>
            <a:ext cx="7886700"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FD9C4"/>
              </a:buClr>
              <a:buSzPts val="1700"/>
              <a:buFont typeface="Cambria"/>
              <a:buNone/>
            </a:pPr>
            <a:r>
              <a:rPr b="1" i="0" lang="en" sz="1700" u="none" cap="none" strike="noStrike">
                <a:solidFill>
                  <a:srgbClr val="2FD9C4"/>
                </a:solidFill>
                <a:latin typeface="Cambria"/>
                <a:ea typeface="Cambria"/>
                <a:cs typeface="Cambria"/>
                <a:sym typeface="Cambria"/>
              </a:rPr>
              <a:t>Thank You — Questions &amp; Discussion</a:t>
            </a:r>
            <a:endParaRPr b="0" i="0" sz="1700" u="none" cap="none" strike="noStrike">
              <a:solidFill>
                <a:schemeClr val="dk1"/>
              </a:solidFill>
              <a:latin typeface="Calibri"/>
              <a:ea typeface="Calibri"/>
              <a:cs typeface="Calibri"/>
              <a:sym typeface="Calibri"/>
            </a:endParaRPr>
          </a:p>
        </p:txBody>
      </p:sp>
      <p:sp>
        <p:nvSpPr>
          <p:cNvPr id="499" name="Google Shape;499;p22"/>
          <p:cNvSpPr/>
          <p:nvPr/>
        </p:nvSpPr>
        <p:spPr>
          <a:xfrm>
            <a:off x="617220" y="4834890"/>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98C2"/>
              </a:buClr>
              <a:buSzPts val="700"/>
              <a:buFont typeface="Calibri"/>
              <a:buNone/>
            </a:pPr>
            <a:r>
              <a:rPr b="1" i="0" lang="en" sz="700" u="none" cap="none" strike="noStrike">
                <a:solidFill>
                  <a:srgbClr val="8B98C2"/>
                </a:solidFill>
                <a:latin typeface="Calibri"/>
                <a:ea typeface="Calibri"/>
                <a:cs typeface="Calibri"/>
                <a:sym typeface="Calibri"/>
              </a:rPr>
              <a:t>AI SHOPPING ASSISTANT CHATBOT</a:t>
            </a:r>
            <a:endParaRPr b="0" i="0" sz="700" u="none" cap="none" strike="noStrike">
              <a:solidFill>
                <a:schemeClr val="dk1"/>
              </a:solidFill>
              <a:latin typeface="Calibri"/>
              <a:ea typeface="Calibri"/>
              <a:cs typeface="Calibri"/>
              <a:sym typeface="Calibri"/>
            </a:endParaRPr>
          </a:p>
        </p:txBody>
      </p:sp>
      <p:sp>
        <p:nvSpPr>
          <p:cNvPr id="500" name="Google Shape;500;p22"/>
          <p:cNvSpPr/>
          <p:nvPr/>
        </p:nvSpPr>
        <p:spPr>
          <a:xfrm>
            <a:off x="8524494" y="4834890"/>
            <a:ext cx="34290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B98C2"/>
              </a:buClr>
              <a:buSzPts val="800"/>
              <a:buFont typeface="Calibri"/>
              <a:buNone/>
            </a:pPr>
            <a:r>
              <a:rPr b="0" i="0" lang="en" sz="800" u="none" cap="none" strike="noStrike">
                <a:solidFill>
                  <a:srgbClr val="8B98C2"/>
                </a:solidFill>
                <a:latin typeface="Calibri"/>
                <a:ea typeface="Calibri"/>
                <a:cs typeface="Calibri"/>
                <a:sym typeface="Calibri"/>
              </a:rPr>
              <a:t>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